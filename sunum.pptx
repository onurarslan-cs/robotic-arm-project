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7"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6" Type="http://schemas.openxmlformats.org/officeDocument/2006/relationships/hyperlink" Target="https://gamma.app"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319599" y="2145983"/>
            <a:ext cx="7475220" cy="833199"/>
          </a:xfrm>
          <a:prstGeom prst="rect">
            <a:avLst/>
          </a:prstGeom>
          <a:noFill/>
          <a:ln/>
        </p:spPr>
        <p:txBody>
          <a:bodyPr wrap="none" rtlCol="0" anchor="t"/>
          <a:lstStyle/>
          <a:p>
            <a:pPr indent="0" marL="0">
              <a:lnSpc>
                <a:spcPts val="6561"/>
              </a:lnSpc>
              <a:buNone/>
            </a:pPr>
            <a:r>
              <a:rPr lang="en-US" sz="5249" dirty="0">
                <a:solidFill>
                  <a:srgbClr val="1B1B27"/>
                </a:solidFill>
                <a:latin typeface="Corben" pitchFamily="34" charset="0"/>
                <a:ea typeface="Corben" pitchFamily="34" charset="-122"/>
                <a:cs typeface="Corben" pitchFamily="34" charset="-120"/>
              </a:rPr>
              <a:t>Robot Kolunun Gelişimi</a:t>
            </a:r>
            <a:endParaRPr lang="en-US" sz="5249" dirty="0"/>
          </a:p>
        </p:txBody>
      </p:sp>
      <p:sp>
        <p:nvSpPr>
          <p:cNvPr id="6" name="Text 2"/>
          <p:cNvSpPr/>
          <p:nvPr/>
        </p:nvSpPr>
        <p:spPr>
          <a:xfrm>
            <a:off x="6319599" y="3312438"/>
            <a:ext cx="7477601" cy="2132409"/>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Sanayi iş kollarının yükselen iş gücü ihtiyacına karşılık verebilmek için 20. Yüzyılın ortalarında robotlar hayatımıza girmiştir. Robotların otomasyon ve endüstriyel çalışmalarda en çok yararlanılan çeşitlerinden biri robot koldur. Robot kolların kullanımı endüstride olası iş kazalarının azaltılması ve üretimin daha hızlı yapılmasını sağlanmıştır.</a:t>
            </a:r>
            <a:endParaRPr lang="en-US" sz="1750" dirty="0"/>
          </a:p>
        </p:txBody>
      </p:sp>
      <p:sp>
        <p:nvSpPr>
          <p:cNvPr id="7" name="Shape 3"/>
          <p:cNvSpPr/>
          <p:nvPr/>
        </p:nvSpPr>
        <p:spPr>
          <a:xfrm>
            <a:off x="6319599" y="5711428"/>
            <a:ext cx="355402" cy="355402"/>
          </a:xfrm>
          <a:prstGeom prst="roundRect">
            <a:avLst>
              <a:gd name="adj" fmla="val 25726039"/>
            </a:avLst>
          </a:prstGeom>
          <a:noFill/>
          <a:ln w="7620">
            <a:solidFill>
              <a:srgbClr val="FFFFFF"/>
            </a:solidFill>
            <a:prstDash val="solid"/>
          </a:ln>
        </p:spPr>
      </p:sp>
      <p:pic>
        <p:nvPicPr>
          <p:cNvPr id="8" name="Image 2" descr="preencoded.png">    </p:cNvPr>
          <p:cNvPicPr>
            <a:picLocks noChangeAspect="1"/>
          </p:cNvPicPr>
          <p:nvPr/>
        </p:nvPicPr>
        <p:blipFill>
          <a:blip r:embed="rId3"/>
          <a:stretch>
            <a:fillRect/>
          </a:stretch>
        </p:blipFill>
        <p:spPr>
          <a:xfrm>
            <a:off x="6327219" y="5719048"/>
            <a:ext cx="340162" cy="340162"/>
          </a:xfrm>
          <a:prstGeom prst="rect">
            <a:avLst/>
          </a:prstGeom>
        </p:spPr>
      </p:pic>
      <p:sp>
        <p:nvSpPr>
          <p:cNvPr id="9" name="Text 4"/>
          <p:cNvSpPr/>
          <p:nvPr/>
        </p:nvSpPr>
        <p:spPr>
          <a:xfrm>
            <a:off x="6786086" y="5694759"/>
            <a:ext cx="2057400" cy="388858"/>
          </a:xfrm>
          <a:prstGeom prst="rect">
            <a:avLst/>
          </a:prstGeom>
          <a:noFill/>
          <a:ln/>
        </p:spPr>
        <p:txBody>
          <a:bodyPr wrap="none" rtlCol="0" anchor="t"/>
          <a:lstStyle/>
          <a:p>
            <a:pPr algn="l" indent="0" marL="0">
              <a:lnSpc>
                <a:spcPts val="3062"/>
              </a:lnSpc>
              <a:buNone/>
            </a:pPr>
            <a:r>
              <a:rPr lang="en-US" sz="2187" b="1" dirty="0">
                <a:solidFill>
                  <a:srgbClr val="404155"/>
                </a:solidFill>
                <a:latin typeface="Nobile" pitchFamily="34" charset="0"/>
                <a:ea typeface="Nobile" pitchFamily="34" charset="-122"/>
                <a:cs typeface="Nobile" pitchFamily="34" charset="-120"/>
              </a:rPr>
              <a:t>by onur arslan</a:t>
            </a:r>
            <a:endParaRPr lang="en-US" sz="2187" dirty="0"/>
          </a:p>
        </p:txBody>
      </p:sp>
      <p:pic>
        <p:nvPicPr>
          <p:cNvPr id="10"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p:cNvPr>
          <p:cNvPicPr>
            <a:picLocks noChangeAspect="1"/>
          </p:cNvPicPr>
          <p:nvPr/>
        </p:nvPicPr>
        <p:blipFill>
          <a:blip r:embed="rId2"/>
          <a:stretch>
            <a:fillRect/>
          </a:stretch>
        </p:blipFill>
        <p:spPr>
          <a:xfrm>
            <a:off x="0" y="0"/>
            <a:ext cx="3657600" cy="8229600"/>
          </a:xfrm>
          <a:prstGeom prst="rect">
            <a:avLst/>
          </a:prstGeom>
        </p:spPr>
      </p:pic>
      <p:sp>
        <p:nvSpPr>
          <p:cNvPr id="5" name="Text 1"/>
          <p:cNvSpPr/>
          <p:nvPr/>
        </p:nvSpPr>
        <p:spPr>
          <a:xfrm>
            <a:off x="4418886" y="558641"/>
            <a:ext cx="9450229" cy="1268730"/>
          </a:xfrm>
          <a:prstGeom prst="rect">
            <a:avLst/>
          </a:prstGeom>
          <a:noFill/>
          <a:ln/>
        </p:spPr>
        <p:txBody>
          <a:bodyPr wrap="square" rtlCol="0" anchor="t"/>
          <a:lstStyle/>
          <a:p>
            <a:pPr indent="0" marL="0">
              <a:lnSpc>
                <a:spcPts val="4996"/>
              </a:lnSpc>
              <a:buNone/>
            </a:pPr>
            <a:r>
              <a:rPr lang="en-US" sz="3997" dirty="0">
                <a:solidFill>
                  <a:srgbClr val="1B1B27"/>
                </a:solidFill>
                <a:latin typeface="Corben" pitchFamily="34" charset="0"/>
                <a:ea typeface="Corben" pitchFamily="34" charset="-122"/>
                <a:cs typeface="Corben" pitchFamily="34" charset="-120"/>
              </a:rPr>
              <a:t>Robot Kolunun Mekanik ve Elektronik Tasarımı</a:t>
            </a:r>
            <a:endParaRPr lang="en-US" sz="3997" dirty="0"/>
          </a:p>
        </p:txBody>
      </p:sp>
      <p:sp>
        <p:nvSpPr>
          <p:cNvPr id="6" name="Shape 2"/>
          <p:cNvSpPr/>
          <p:nvPr/>
        </p:nvSpPr>
        <p:spPr>
          <a:xfrm>
            <a:off x="4703088" y="2131814"/>
            <a:ext cx="40600" cy="5539026"/>
          </a:xfrm>
          <a:prstGeom prst="roundRect">
            <a:avLst>
              <a:gd name="adj" fmla="val 225027"/>
            </a:avLst>
          </a:prstGeom>
          <a:solidFill>
            <a:srgbClr val="A5B3F3"/>
          </a:solidFill>
          <a:ln/>
        </p:spPr>
      </p:sp>
      <p:sp>
        <p:nvSpPr>
          <p:cNvPr id="7" name="Shape 3"/>
          <p:cNvSpPr/>
          <p:nvPr/>
        </p:nvSpPr>
        <p:spPr>
          <a:xfrm>
            <a:off x="4951690" y="2498467"/>
            <a:ext cx="710565" cy="40600"/>
          </a:xfrm>
          <a:prstGeom prst="roundRect">
            <a:avLst>
              <a:gd name="adj" fmla="val 225027"/>
            </a:avLst>
          </a:prstGeom>
          <a:solidFill>
            <a:srgbClr val="A5B3F3"/>
          </a:solidFill>
          <a:ln/>
        </p:spPr>
      </p:sp>
      <p:sp>
        <p:nvSpPr>
          <p:cNvPr id="8" name="Shape 4"/>
          <p:cNvSpPr/>
          <p:nvPr/>
        </p:nvSpPr>
        <p:spPr>
          <a:xfrm>
            <a:off x="4494967" y="2290405"/>
            <a:ext cx="456724" cy="456724"/>
          </a:xfrm>
          <a:prstGeom prst="roundRect">
            <a:avLst>
              <a:gd name="adj" fmla="val 20004"/>
            </a:avLst>
          </a:prstGeom>
          <a:solidFill>
            <a:srgbClr val="D2D9F9"/>
          </a:solidFill>
          <a:ln w="12621">
            <a:solidFill>
              <a:srgbClr val="A5B3F3"/>
            </a:solidFill>
            <a:prstDash val="solid"/>
          </a:ln>
        </p:spPr>
      </p:sp>
      <p:sp>
        <p:nvSpPr>
          <p:cNvPr id="9" name="Text 5"/>
          <p:cNvSpPr/>
          <p:nvPr/>
        </p:nvSpPr>
        <p:spPr>
          <a:xfrm>
            <a:off x="4677608" y="2328386"/>
            <a:ext cx="91440" cy="380643"/>
          </a:xfrm>
          <a:prstGeom prst="rect">
            <a:avLst/>
          </a:prstGeom>
          <a:noFill/>
          <a:ln/>
        </p:spPr>
        <p:txBody>
          <a:bodyPr wrap="none" rtlCol="0" anchor="t"/>
          <a:lstStyle/>
          <a:p>
            <a:pPr algn="ctr" indent="0" marL="0">
              <a:lnSpc>
                <a:spcPts val="2997"/>
              </a:lnSpc>
              <a:buNone/>
            </a:pPr>
            <a:r>
              <a:rPr lang="en-US" sz="2398" dirty="0">
                <a:solidFill>
                  <a:srgbClr val="404155"/>
                </a:solidFill>
                <a:latin typeface="Corben" pitchFamily="34" charset="0"/>
                <a:ea typeface="Corben" pitchFamily="34" charset="-122"/>
                <a:cs typeface="Corben" pitchFamily="34" charset="-120"/>
              </a:rPr>
              <a:t>1</a:t>
            </a:r>
            <a:endParaRPr lang="en-US" sz="2398" dirty="0"/>
          </a:p>
        </p:txBody>
      </p:sp>
      <p:sp>
        <p:nvSpPr>
          <p:cNvPr id="10" name="Text 6"/>
          <p:cNvSpPr/>
          <p:nvPr/>
        </p:nvSpPr>
        <p:spPr>
          <a:xfrm>
            <a:off x="5839897" y="2334816"/>
            <a:ext cx="2095500" cy="317063"/>
          </a:xfrm>
          <a:prstGeom prst="rect">
            <a:avLst/>
          </a:prstGeom>
          <a:noFill/>
          <a:ln/>
        </p:spPr>
        <p:txBody>
          <a:bodyPr wrap="none" rtlCol="0" anchor="t"/>
          <a:lstStyle/>
          <a:p>
            <a:pPr algn="l" indent="0" marL="0">
              <a:lnSpc>
                <a:spcPts val="2498"/>
              </a:lnSpc>
              <a:buNone/>
            </a:pPr>
            <a:r>
              <a:rPr lang="en-US" sz="1998" dirty="0">
                <a:solidFill>
                  <a:srgbClr val="404155"/>
                </a:solidFill>
                <a:latin typeface="Corben" pitchFamily="34" charset="0"/>
                <a:ea typeface="Corben" pitchFamily="34" charset="-122"/>
                <a:cs typeface="Corben" pitchFamily="34" charset="-120"/>
              </a:rPr>
              <a:t>Mekanik Tasarım</a:t>
            </a:r>
            <a:endParaRPr lang="en-US" sz="1998" dirty="0"/>
          </a:p>
        </p:txBody>
      </p:sp>
      <p:sp>
        <p:nvSpPr>
          <p:cNvPr id="11" name="Text 7"/>
          <p:cNvSpPr/>
          <p:nvPr/>
        </p:nvSpPr>
        <p:spPr>
          <a:xfrm>
            <a:off x="5839897" y="2773680"/>
            <a:ext cx="8029218" cy="974408"/>
          </a:xfrm>
          <a:prstGeom prst="rect">
            <a:avLst/>
          </a:prstGeom>
          <a:noFill/>
          <a:ln/>
        </p:spPr>
        <p:txBody>
          <a:bodyPr wrap="square" rtlCol="0" anchor="t"/>
          <a:lstStyle/>
          <a:p>
            <a:pPr algn="l" indent="0" marL="0">
              <a:lnSpc>
                <a:spcPts val="2558"/>
              </a:lnSpc>
              <a:buNone/>
            </a:pPr>
            <a:r>
              <a:rPr lang="en-US" sz="1599" dirty="0">
                <a:solidFill>
                  <a:srgbClr val="404155"/>
                </a:solidFill>
                <a:latin typeface="Nobile" pitchFamily="34" charset="0"/>
                <a:ea typeface="Nobile" pitchFamily="34" charset="-122"/>
                <a:cs typeface="Nobile" pitchFamily="34" charset="-120"/>
              </a:rPr>
              <a:t>Robot kolunun mekanik ve elektronik tasarımı gerçekleştirilecektir. Bu tasarım, cisimleri algılamak ve doğru şekilde tepki vermek için gerekli sensörleri ve aktuatörleri içerecektir.</a:t>
            </a:r>
            <a:endParaRPr lang="en-US" sz="1599" dirty="0"/>
          </a:p>
        </p:txBody>
      </p:sp>
      <p:sp>
        <p:nvSpPr>
          <p:cNvPr id="12" name="Shape 8"/>
          <p:cNvSpPr/>
          <p:nvPr/>
        </p:nvSpPr>
        <p:spPr>
          <a:xfrm>
            <a:off x="4951690" y="4520744"/>
            <a:ext cx="710565" cy="40600"/>
          </a:xfrm>
          <a:prstGeom prst="roundRect">
            <a:avLst>
              <a:gd name="adj" fmla="val 225027"/>
            </a:avLst>
          </a:prstGeom>
          <a:solidFill>
            <a:srgbClr val="A5B3F3"/>
          </a:solidFill>
          <a:ln/>
        </p:spPr>
      </p:sp>
      <p:sp>
        <p:nvSpPr>
          <p:cNvPr id="13" name="Shape 9"/>
          <p:cNvSpPr/>
          <p:nvPr/>
        </p:nvSpPr>
        <p:spPr>
          <a:xfrm>
            <a:off x="4494967" y="4312682"/>
            <a:ext cx="456724" cy="456724"/>
          </a:xfrm>
          <a:prstGeom prst="roundRect">
            <a:avLst>
              <a:gd name="adj" fmla="val 20004"/>
            </a:avLst>
          </a:prstGeom>
          <a:solidFill>
            <a:srgbClr val="D2D9F9"/>
          </a:solidFill>
          <a:ln w="12621">
            <a:solidFill>
              <a:srgbClr val="A5B3F3"/>
            </a:solidFill>
            <a:prstDash val="solid"/>
          </a:ln>
        </p:spPr>
      </p:sp>
      <p:sp>
        <p:nvSpPr>
          <p:cNvPr id="14" name="Text 10"/>
          <p:cNvSpPr/>
          <p:nvPr/>
        </p:nvSpPr>
        <p:spPr>
          <a:xfrm>
            <a:off x="4643318" y="4350663"/>
            <a:ext cx="160020" cy="380643"/>
          </a:xfrm>
          <a:prstGeom prst="rect">
            <a:avLst/>
          </a:prstGeom>
          <a:noFill/>
          <a:ln/>
        </p:spPr>
        <p:txBody>
          <a:bodyPr wrap="none" rtlCol="0" anchor="t"/>
          <a:lstStyle/>
          <a:p>
            <a:pPr algn="ctr" indent="0" marL="0">
              <a:lnSpc>
                <a:spcPts val="2997"/>
              </a:lnSpc>
              <a:buNone/>
            </a:pPr>
            <a:r>
              <a:rPr lang="en-US" sz="2398" dirty="0">
                <a:solidFill>
                  <a:srgbClr val="404155"/>
                </a:solidFill>
                <a:latin typeface="Corben" pitchFamily="34" charset="0"/>
                <a:ea typeface="Corben" pitchFamily="34" charset="-122"/>
                <a:cs typeface="Corben" pitchFamily="34" charset="-120"/>
              </a:rPr>
              <a:t>2</a:t>
            </a:r>
            <a:endParaRPr lang="en-US" sz="2398" dirty="0"/>
          </a:p>
        </p:txBody>
      </p:sp>
      <p:sp>
        <p:nvSpPr>
          <p:cNvPr id="15" name="Text 11"/>
          <p:cNvSpPr/>
          <p:nvPr/>
        </p:nvSpPr>
        <p:spPr>
          <a:xfrm>
            <a:off x="5839897" y="4357092"/>
            <a:ext cx="2346960" cy="317063"/>
          </a:xfrm>
          <a:prstGeom prst="rect">
            <a:avLst/>
          </a:prstGeom>
          <a:noFill/>
          <a:ln/>
        </p:spPr>
        <p:txBody>
          <a:bodyPr wrap="none" rtlCol="0" anchor="t"/>
          <a:lstStyle/>
          <a:p>
            <a:pPr algn="l" indent="0" marL="0">
              <a:lnSpc>
                <a:spcPts val="2498"/>
              </a:lnSpc>
              <a:buNone/>
            </a:pPr>
            <a:r>
              <a:rPr lang="en-US" sz="1998" dirty="0">
                <a:solidFill>
                  <a:srgbClr val="404155"/>
                </a:solidFill>
                <a:latin typeface="Corben" pitchFamily="34" charset="0"/>
                <a:ea typeface="Corben" pitchFamily="34" charset="-122"/>
                <a:cs typeface="Corben" pitchFamily="34" charset="-120"/>
              </a:rPr>
              <a:t>3B Yazıcı İle Üretim</a:t>
            </a:r>
            <a:endParaRPr lang="en-US" sz="1998" dirty="0"/>
          </a:p>
        </p:txBody>
      </p:sp>
      <p:sp>
        <p:nvSpPr>
          <p:cNvPr id="16" name="Text 12"/>
          <p:cNvSpPr/>
          <p:nvPr/>
        </p:nvSpPr>
        <p:spPr>
          <a:xfrm>
            <a:off x="5839897" y="4795957"/>
            <a:ext cx="8029218" cy="649605"/>
          </a:xfrm>
          <a:prstGeom prst="rect">
            <a:avLst/>
          </a:prstGeom>
          <a:noFill/>
          <a:ln/>
        </p:spPr>
        <p:txBody>
          <a:bodyPr wrap="square" rtlCol="0" anchor="t"/>
          <a:lstStyle/>
          <a:p>
            <a:pPr algn="l" indent="0" marL="0">
              <a:lnSpc>
                <a:spcPts val="2558"/>
              </a:lnSpc>
              <a:buNone/>
            </a:pPr>
            <a:r>
              <a:rPr lang="en-US" sz="1599" dirty="0">
                <a:solidFill>
                  <a:srgbClr val="404155"/>
                </a:solidFill>
                <a:latin typeface="Nobile" pitchFamily="34" charset="0"/>
                <a:ea typeface="Nobile" pitchFamily="34" charset="-122"/>
                <a:cs typeface="Nobile" pitchFamily="34" charset="-120"/>
              </a:rPr>
              <a:t>Projede yer alan tasarımlar 3B yazıcı ile çıkarılacak ve filament olarak kullanılacak olan malzeme ABS olarak belirlenmiştir.</a:t>
            </a:r>
            <a:endParaRPr lang="en-US" sz="1599" dirty="0"/>
          </a:p>
        </p:txBody>
      </p:sp>
      <p:sp>
        <p:nvSpPr>
          <p:cNvPr id="17" name="Shape 13"/>
          <p:cNvSpPr/>
          <p:nvPr/>
        </p:nvSpPr>
        <p:spPr>
          <a:xfrm>
            <a:off x="4951690" y="6218218"/>
            <a:ext cx="710565" cy="40600"/>
          </a:xfrm>
          <a:prstGeom prst="roundRect">
            <a:avLst>
              <a:gd name="adj" fmla="val 225027"/>
            </a:avLst>
          </a:prstGeom>
          <a:solidFill>
            <a:srgbClr val="A5B3F3"/>
          </a:solidFill>
          <a:ln/>
        </p:spPr>
      </p:sp>
      <p:sp>
        <p:nvSpPr>
          <p:cNvPr id="18" name="Shape 14"/>
          <p:cNvSpPr/>
          <p:nvPr/>
        </p:nvSpPr>
        <p:spPr>
          <a:xfrm>
            <a:off x="4494967" y="6010156"/>
            <a:ext cx="456724" cy="456724"/>
          </a:xfrm>
          <a:prstGeom prst="roundRect">
            <a:avLst>
              <a:gd name="adj" fmla="val 20004"/>
            </a:avLst>
          </a:prstGeom>
          <a:solidFill>
            <a:srgbClr val="D2D9F9"/>
          </a:solidFill>
          <a:ln w="12621">
            <a:solidFill>
              <a:srgbClr val="A5B3F3"/>
            </a:solidFill>
            <a:prstDash val="solid"/>
          </a:ln>
        </p:spPr>
      </p:sp>
      <p:sp>
        <p:nvSpPr>
          <p:cNvPr id="19" name="Text 15"/>
          <p:cNvSpPr/>
          <p:nvPr/>
        </p:nvSpPr>
        <p:spPr>
          <a:xfrm>
            <a:off x="4639508" y="6048137"/>
            <a:ext cx="167640" cy="380643"/>
          </a:xfrm>
          <a:prstGeom prst="rect">
            <a:avLst/>
          </a:prstGeom>
          <a:noFill/>
          <a:ln/>
        </p:spPr>
        <p:txBody>
          <a:bodyPr wrap="none" rtlCol="0" anchor="t"/>
          <a:lstStyle/>
          <a:p>
            <a:pPr algn="ctr" indent="0" marL="0">
              <a:lnSpc>
                <a:spcPts val="2997"/>
              </a:lnSpc>
              <a:buNone/>
            </a:pPr>
            <a:r>
              <a:rPr lang="en-US" sz="2398" dirty="0">
                <a:solidFill>
                  <a:srgbClr val="404155"/>
                </a:solidFill>
                <a:latin typeface="Corben" pitchFamily="34" charset="0"/>
                <a:ea typeface="Corben" pitchFamily="34" charset="-122"/>
                <a:cs typeface="Corben" pitchFamily="34" charset="-120"/>
              </a:rPr>
              <a:t>3</a:t>
            </a:r>
            <a:endParaRPr lang="en-US" sz="2398" dirty="0"/>
          </a:p>
        </p:txBody>
      </p:sp>
      <p:sp>
        <p:nvSpPr>
          <p:cNvPr id="20" name="Text 16"/>
          <p:cNvSpPr/>
          <p:nvPr/>
        </p:nvSpPr>
        <p:spPr>
          <a:xfrm>
            <a:off x="5839897" y="6054566"/>
            <a:ext cx="3055620" cy="317063"/>
          </a:xfrm>
          <a:prstGeom prst="rect">
            <a:avLst/>
          </a:prstGeom>
          <a:noFill/>
          <a:ln/>
        </p:spPr>
        <p:txBody>
          <a:bodyPr wrap="none" rtlCol="0" anchor="t"/>
          <a:lstStyle/>
          <a:p>
            <a:pPr algn="l" indent="0" marL="0">
              <a:lnSpc>
                <a:spcPts val="2498"/>
              </a:lnSpc>
              <a:buNone/>
            </a:pPr>
            <a:r>
              <a:rPr lang="en-US" sz="1998" dirty="0">
                <a:solidFill>
                  <a:srgbClr val="404155"/>
                </a:solidFill>
                <a:latin typeface="Corben" pitchFamily="34" charset="0"/>
                <a:ea typeface="Corben" pitchFamily="34" charset="-122"/>
                <a:cs typeface="Corben" pitchFamily="34" charset="-120"/>
              </a:rPr>
              <a:t>Ters Kinematik Dönüşüm</a:t>
            </a:r>
            <a:endParaRPr lang="en-US" sz="1998" dirty="0"/>
          </a:p>
        </p:txBody>
      </p:sp>
      <p:sp>
        <p:nvSpPr>
          <p:cNvPr id="21" name="Text 17"/>
          <p:cNvSpPr/>
          <p:nvPr/>
        </p:nvSpPr>
        <p:spPr>
          <a:xfrm>
            <a:off x="5839897" y="6493431"/>
            <a:ext cx="8029218" cy="974408"/>
          </a:xfrm>
          <a:prstGeom prst="rect">
            <a:avLst/>
          </a:prstGeom>
          <a:noFill/>
          <a:ln/>
        </p:spPr>
        <p:txBody>
          <a:bodyPr wrap="square" rtlCol="0" anchor="t"/>
          <a:lstStyle/>
          <a:p>
            <a:pPr algn="l" indent="0" marL="0">
              <a:lnSpc>
                <a:spcPts val="2558"/>
              </a:lnSpc>
              <a:buNone/>
            </a:pPr>
            <a:r>
              <a:rPr lang="en-US" sz="1599" dirty="0">
                <a:solidFill>
                  <a:srgbClr val="404155"/>
                </a:solidFill>
                <a:latin typeface="Nobile" pitchFamily="34" charset="0"/>
                <a:ea typeface="Nobile" pitchFamily="34" charset="-122"/>
                <a:cs typeface="Nobile" pitchFamily="34" charset="-120"/>
              </a:rPr>
              <a:t>Robot kol 3B yazıcıda basıldıktan sonra servo motorlarla alt mekanizmanın ve üst parçaların uyumlu hareket etmesi için ters kinematik dönüşüm denklemlerinden yararlanılacaktır.</a:t>
            </a:r>
            <a:endParaRPr lang="en-US" sz="1599" dirty="0"/>
          </a:p>
        </p:txBody>
      </p:sp>
      <p:pic>
        <p:nvPicPr>
          <p:cNvPr id="22"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p:cNvPr>
          <p:cNvPicPr>
            <a:picLocks noChangeAspect="1"/>
          </p:cNvPicPr>
          <p:nvPr/>
        </p:nvPicPr>
        <p:blipFill>
          <a:blip r:embed="rId2"/>
          <a:stretch>
            <a:fillRect/>
          </a:stretch>
        </p:blipFill>
        <p:spPr>
          <a:xfrm>
            <a:off x="0" y="0"/>
            <a:ext cx="14630400" cy="8229600"/>
          </a:xfrm>
          <a:prstGeom prst="rect">
            <a:avLst/>
          </a:prstGeom>
        </p:spPr>
      </p:pic>
      <p:sp>
        <p:nvSpPr>
          <p:cNvPr id="5" name="Shape 1"/>
          <p:cNvSpPr/>
          <p:nvPr/>
        </p:nvSpPr>
        <p:spPr>
          <a:xfrm>
            <a:off x="0" y="0"/>
            <a:ext cx="14630400" cy="8229600"/>
          </a:xfrm>
          <a:prstGeom prst="rect">
            <a:avLst/>
          </a:prstGeom>
          <a:solidFill>
            <a:srgbClr val="F9F9FF">
              <a:alpha val="85000"/>
            </a:srgbClr>
          </a:solidFill>
          <a:ln/>
        </p:spPr>
      </p:sp>
      <p:sp>
        <p:nvSpPr>
          <p:cNvPr id="6" name="Text 2"/>
          <p:cNvSpPr/>
          <p:nvPr/>
        </p:nvSpPr>
        <p:spPr>
          <a:xfrm>
            <a:off x="2037993" y="1462921"/>
            <a:ext cx="9113520" cy="694373"/>
          </a:xfrm>
          <a:prstGeom prst="rect">
            <a:avLst/>
          </a:prstGeom>
          <a:noFill/>
          <a:ln/>
        </p:spPr>
        <p:txBody>
          <a:bodyPr wrap="none" rtlCol="0" anchor="t"/>
          <a:lstStyle/>
          <a:p>
            <a:pPr indent="0" marL="0">
              <a:lnSpc>
                <a:spcPts val="5468"/>
              </a:lnSpc>
              <a:buNone/>
            </a:pPr>
            <a:r>
              <a:rPr lang="en-US" sz="4374" dirty="0">
                <a:solidFill>
                  <a:srgbClr val="1B1B27"/>
                </a:solidFill>
                <a:latin typeface="Corben" pitchFamily="34" charset="0"/>
                <a:ea typeface="Corben" pitchFamily="34" charset="-122"/>
                <a:cs typeface="Corben" pitchFamily="34" charset="-120"/>
              </a:rPr>
              <a:t>Robot Kolunun Makine Öğrenmesi</a:t>
            </a:r>
            <a:endParaRPr lang="en-US" sz="4374" dirty="0"/>
          </a:p>
        </p:txBody>
      </p:sp>
      <p:sp>
        <p:nvSpPr>
          <p:cNvPr id="7" name="Shape 3"/>
          <p:cNvSpPr/>
          <p:nvPr/>
        </p:nvSpPr>
        <p:spPr>
          <a:xfrm>
            <a:off x="2037993" y="2664143"/>
            <a:ext cx="499943" cy="499943"/>
          </a:xfrm>
          <a:prstGeom prst="roundRect">
            <a:avLst>
              <a:gd name="adj" fmla="val 20000"/>
            </a:avLst>
          </a:prstGeom>
          <a:solidFill>
            <a:srgbClr val="D2D9F9"/>
          </a:solidFill>
          <a:ln w="13811">
            <a:solidFill>
              <a:srgbClr val="A5B3F3"/>
            </a:solidFill>
            <a:prstDash val="solid"/>
          </a:ln>
        </p:spPr>
      </p:sp>
      <p:sp>
        <p:nvSpPr>
          <p:cNvPr id="8" name="Text 4"/>
          <p:cNvSpPr/>
          <p:nvPr/>
        </p:nvSpPr>
        <p:spPr>
          <a:xfrm>
            <a:off x="2238375" y="2705814"/>
            <a:ext cx="99060" cy="416481"/>
          </a:xfrm>
          <a:prstGeom prst="rect">
            <a:avLst/>
          </a:prstGeom>
          <a:noFill/>
          <a:ln/>
        </p:spPr>
        <p:txBody>
          <a:bodyPr wrap="none" rtlCol="0" anchor="t"/>
          <a:lstStyle/>
          <a:p>
            <a:pPr algn="ctr" indent="0" marL="0">
              <a:lnSpc>
                <a:spcPts val="3281"/>
              </a:lnSpc>
              <a:buNone/>
            </a:pPr>
            <a:r>
              <a:rPr lang="en-US" sz="2624" dirty="0">
                <a:solidFill>
                  <a:srgbClr val="404155"/>
                </a:solidFill>
                <a:latin typeface="Corben" pitchFamily="34" charset="0"/>
                <a:ea typeface="Corben" pitchFamily="34" charset="-122"/>
                <a:cs typeface="Corben" pitchFamily="34" charset="-120"/>
              </a:rPr>
              <a:t>1</a:t>
            </a:r>
            <a:endParaRPr lang="en-US" sz="2624" dirty="0"/>
          </a:p>
        </p:txBody>
      </p:sp>
      <p:sp>
        <p:nvSpPr>
          <p:cNvPr id="9" name="Text 5"/>
          <p:cNvSpPr/>
          <p:nvPr/>
        </p:nvSpPr>
        <p:spPr>
          <a:xfrm>
            <a:off x="2760107" y="2740462"/>
            <a:ext cx="2647950" cy="694373"/>
          </a:xfrm>
          <a:prstGeom prst="rect">
            <a:avLst/>
          </a:prstGeom>
          <a:noFill/>
          <a:ln/>
        </p:spPr>
        <p:txBody>
          <a:bodyPr wrap="squar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Makine Öğrenimi Modeli Geliştirme</a:t>
            </a:r>
            <a:endParaRPr lang="en-US" sz="2187" dirty="0"/>
          </a:p>
        </p:txBody>
      </p:sp>
      <p:sp>
        <p:nvSpPr>
          <p:cNvPr id="10" name="Text 6"/>
          <p:cNvSpPr/>
          <p:nvPr/>
        </p:nvSpPr>
        <p:spPr>
          <a:xfrm>
            <a:off x="2760107" y="3568065"/>
            <a:ext cx="2647950" cy="2132409"/>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Toplanan veri seti üzerinden, nesne ayırt etme yeteneklerine odaklanan bir makine öğrenimi modeli oluşturulacaktır.</a:t>
            </a:r>
            <a:endParaRPr lang="en-US" sz="1750" dirty="0"/>
          </a:p>
        </p:txBody>
      </p:sp>
      <p:sp>
        <p:nvSpPr>
          <p:cNvPr id="11" name="Shape 7"/>
          <p:cNvSpPr/>
          <p:nvPr/>
        </p:nvSpPr>
        <p:spPr>
          <a:xfrm>
            <a:off x="5630228" y="2664143"/>
            <a:ext cx="499943" cy="499943"/>
          </a:xfrm>
          <a:prstGeom prst="roundRect">
            <a:avLst>
              <a:gd name="adj" fmla="val 20000"/>
            </a:avLst>
          </a:prstGeom>
          <a:solidFill>
            <a:srgbClr val="D2D9F9"/>
          </a:solidFill>
          <a:ln w="13811">
            <a:solidFill>
              <a:srgbClr val="A5B3F3"/>
            </a:solidFill>
            <a:prstDash val="solid"/>
          </a:ln>
        </p:spPr>
      </p:sp>
      <p:sp>
        <p:nvSpPr>
          <p:cNvPr id="12" name="Text 8"/>
          <p:cNvSpPr/>
          <p:nvPr/>
        </p:nvSpPr>
        <p:spPr>
          <a:xfrm>
            <a:off x="5792510" y="2705814"/>
            <a:ext cx="175260" cy="416481"/>
          </a:xfrm>
          <a:prstGeom prst="rect">
            <a:avLst/>
          </a:prstGeom>
          <a:noFill/>
          <a:ln/>
        </p:spPr>
        <p:txBody>
          <a:bodyPr wrap="none" rtlCol="0" anchor="t"/>
          <a:lstStyle/>
          <a:p>
            <a:pPr algn="ctr" indent="0" marL="0">
              <a:lnSpc>
                <a:spcPts val="3281"/>
              </a:lnSpc>
              <a:buNone/>
            </a:pPr>
            <a:r>
              <a:rPr lang="en-US" sz="2624" dirty="0">
                <a:solidFill>
                  <a:srgbClr val="404155"/>
                </a:solidFill>
                <a:latin typeface="Corben" pitchFamily="34" charset="0"/>
                <a:ea typeface="Corben" pitchFamily="34" charset="-122"/>
                <a:cs typeface="Corben" pitchFamily="34" charset="-120"/>
              </a:rPr>
              <a:t>2</a:t>
            </a:r>
            <a:endParaRPr lang="en-US" sz="2624" dirty="0"/>
          </a:p>
        </p:txBody>
      </p:sp>
      <p:sp>
        <p:nvSpPr>
          <p:cNvPr id="13" name="Text 9"/>
          <p:cNvSpPr/>
          <p:nvPr/>
        </p:nvSpPr>
        <p:spPr>
          <a:xfrm>
            <a:off x="6352342" y="2740462"/>
            <a:ext cx="2545080" cy="347186"/>
          </a:xfrm>
          <a:prstGeom prst="rect">
            <a:avLst/>
          </a:prstGeom>
          <a:noFill/>
          <a:ln/>
        </p:spPr>
        <p:txBody>
          <a:bodyPr wrap="non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Entegrasyon ve Test</a:t>
            </a:r>
            <a:endParaRPr lang="en-US" sz="2187" dirty="0"/>
          </a:p>
        </p:txBody>
      </p:sp>
      <p:sp>
        <p:nvSpPr>
          <p:cNvPr id="14" name="Text 10"/>
          <p:cNvSpPr/>
          <p:nvPr/>
        </p:nvSpPr>
        <p:spPr>
          <a:xfrm>
            <a:off x="6352342" y="3220879"/>
            <a:ext cx="2647950" cy="1777008"/>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Tasarlanan robot kol, makine öğrenimi modeli ile entegre edilecek ve bir bütün olarak test edilecektir.</a:t>
            </a:r>
            <a:endParaRPr lang="en-US" sz="1750" dirty="0"/>
          </a:p>
        </p:txBody>
      </p:sp>
      <p:sp>
        <p:nvSpPr>
          <p:cNvPr id="15" name="Shape 11"/>
          <p:cNvSpPr/>
          <p:nvPr/>
        </p:nvSpPr>
        <p:spPr>
          <a:xfrm>
            <a:off x="9222462" y="2664143"/>
            <a:ext cx="499943" cy="499943"/>
          </a:xfrm>
          <a:prstGeom prst="roundRect">
            <a:avLst>
              <a:gd name="adj" fmla="val 20000"/>
            </a:avLst>
          </a:prstGeom>
          <a:solidFill>
            <a:srgbClr val="D2D9F9"/>
          </a:solidFill>
          <a:ln w="13811">
            <a:solidFill>
              <a:srgbClr val="A5B3F3"/>
            </a:solidFill>
            <a:prstDash val="solid"/>
          </a:ln>
        </p:spPr>
      </p:sp>
      <p:sp>
        <p:nvSpPr>
          <p:cNvPr id="16" name="Text 12"/>
          <p:cNvSpPr/>
          <p:nvPr/>
        </p:nvSpPr>
        <p:spPr>
          <a:xfrm>
            <a:off x="9377124" y="2705814"/>
            <a:ext cx="190500" cy="416481"/>
          </a:xfrm>
          <a:prstGeom prst="rect">
            <a:avLst/>
          </a:prstGeom>
          <a:noFill/>
          <a:ln/>
        </p:spPr>
        <p:txBody>
          <a:bodyPr wrap="none" rtlCol="0" anchor="t"/>
          <a:lstStyle/>
          <a:p>
            <a:pPr algn="ctr" indent="0" marL="0">
              <a:lnSpc>
                <a:spcPts val="3281"/>
              </a:lnSpc>
              <a:buNone/>
            </a:pPr>
            <a:r>
              <a:rPr lang="en-US" sz="2624" dirty="0">
                <a:solidFill>
                  <a:srgbClr val="404155"/>
                </a:solidFill>
                <a:latin typeface="Corben" pitchFamily="34" charset="0"/>
                <a:ea typeface="Corben" pitchFamily="34" charset="-122"/>
                <a:cs typeface="Corben" pitchFamily="34" charset="-120"/>
              </a:rPr>
              <a:t>3</a:t>
            </a:r>
            <a:endParaRPr lang="en-US" sz="2624" dirty="0"/>
          </a:p>
        </p:txBody>
      </p:sp>
      <p:sp>
        <p:nvSpPr>
          <p:cNvPr id="17" name="Text 13"/>
          <p:cNvSpPr/>
          <p:nvPr/>
        </p:nvSpPr>
        <p:spPr>
          <a:xfrm>
            <a:off x="9944576" y="2740462"/>
            <a:ext cx="2647950" cy="694373"/>
          </a:xfrm>
          <a:prstGeom prst="rect">
            <a:avLst/>
          </a:prstGeom>
          <a:noFill/>
          <a:ln/>
        </p:spPr>
        <p:txBody>
          <a:bodyPr wrap="squar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Optimizasyon ve İyileştirme</a:t>
            </a:r>
            <a:endParaRPr lang="en-US" sz="2187" dirty="0"/>
          </a:p>
        </p:txBody>
      </p:sp>
      <p:sp>
        <p:nvSpPr>
          <p:cNvPr id="18" name="Text 14"/>
          <p:cNvSpPr/>
          <p:nvPr/>
        </p:nvSpPr>
        <p:spPr>
          <a:xfrm>
            <a:off x="9944576" y="3568065"/>
            <a:ext cx="2647950" cy="3198614"/>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Projenin başlangıcından itibaren elde edilen sonuçlara dayanarak, sistem üzerinde geliştirmeler yapılacak ve performansı optimize etmek için çeşitli iyileştirmeler uygulanacaktır.</a:t>
            </a:r>
            <a:endParaRPr lang="en-US" sz="1750" dirty="0"/>
          </a:p>
        </p:txBody>
      </p:sp>
      <p:pic>
        <p:nvPicPr>
          <p:cNvPr id="19"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sp>
        <p:nvSpPr>
          <p:cNvPr id="4" name="Text 1"/>
          <p:cNvSpPr/>
          <p:nvPr/>
        </p:nvSpPr>
        <p:spPr>
          <a:xfrm>
            <a:off x="2037993" y="1865471"/>
            <a:ext cx="6438900" cy="694373"/>
          </a:xfrm>
          <a:prstGeom prst="rect">
            <a:avLst/>
          </a:prstGeom>
          <a:noFill/>
          <a:ln/>
        </p:spPr>
        <p:txBody>
          <a:bodyPr wrap="none" rtlCol="0" anchor="t"/>
          <a:lstStyle/>
          <a:p>
            <a:pPr indent="0" marL="0">
              <a:lnSpc>
                <a:spcPts val="5468"/>
              </a:lnSpc>
              <a:buNone/>
            </a:pPr>
            <a:r>
              <a:rPr lang="en-US" sz="4374" dirty="0">
                <a:solidFill>
                  <a:srgbClr val="1B1B27"/>
                </a:solidFill>
                <a:latin typeface="Corben" pitchFamily="34" charset="0"/>
                <a:ea typeface="Corben" pitchFamily="34" charset="-122"/>
                <a:cs typeface="Corben" pitchFamily="34" charset="-120"/>
              </a:rPr>
              <a:t>Robot Kolunun Tarihçesi</a:t>
            </a:r>
            <a:endParaRPr lang="en-US" sz="4374" dirty="0"/>
          </a:p>
        </p:txBody>
      </p:sp>
      <p:sp>
        <p:nvSpPr>
          <p:cNvPr id="5" name="Text 2"/>
          <p:cNvSpPr/>
          <p:nvPr/>
        </p:nvSpPr>
        <p:spPr>
          <a:xfrm>
            <a:off x="2037993" y="3115270"/>
            <a:ext cx="2750820" cy="347186"/>
          </a:xfrm>
          <a:prstGeom prst="rect">
            <a:avLst/>
          </a:prstGeom>
          <a:noFill/>
          <a:ln/>
        </p:spPr>
        <p:txBody>
          <a:bodyPr wrap="none" rtlCol="0" anchor="t"/>
          <a:lstStyle/>
          <a:p>
            <a:pPr indent="0" marL="0">
              <a:lnSpc>
                <a:spcPts val="2734"/>
              </a:lnSpc>
              <a:buNone/>
            </a:pPr>
            <a:r>
              <a:rPr lang="en-US" sz="2187" dirty="0">
                <a:solidFill>
                  <a:srgbClr val="1B1B27"/>
                </a:solidFill>
                <a:latin typeface="Corben" pitchFamily="34" charset="0"/>
                <a:ea typeface="Corben" pitchFamily="34" charset="-122"/>
                <a:cs typeface="Corben" pitchFamily="34" charset="-120"/>
              </a:rPr>
              <a:t>İlk Endüstriyel Robot</a:t>
            </a:r>
            <a:endParaRPr lang="en-US" sz="2187" dirty="0"/>
          </a:p>
        </p:txBody>
      </p:sp>
      <p:sp>
        <p:nvSpPr>
          <p:cNvPr id="6" name="Text 3"/>
          <p:cNvSpPr/>
          <p:nvPr/>
        </p:nvSpPr>
        <p:spPr>
          <a:xfrm>
            <a:off x="2037993" y="3684627"/>
            <a:ext cx="3156347" cy="1421606"/>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1954'te George Charles Devol tarafından icat edilen Unimate, ilk endüstriyel robot olarak arabalar için kullanıldı.</a:t>
            </a:r>
            <a:endParaRPr lang="en-US" sz="1750" dirty="0"/>
          </a:p>
        </p:txBody>
      </p:sp>
      <p:sp>
        <p:nvSpPr>
          <p:cNvPr id="7" name="Text 4"/>
          <p:cNvSpPr/>
          <p:nvPr/>
        </p:nvSpPr>
        <p:spPr>
          <a:xfrm>
            <a:off x="5743932" y="3115270"/>
            <a:ext cx="3156347" cy="694373"/>
          </a:xfrm>
          <a:prstGeom prst="rect">
            <a:avLst/>
          </a:prstGeom>
          <a:noFill/>
          <a:ln/>
        </p:spPr>
        <p:txBody>
          <a:bodyPr wrap="square" rtlCol="0" anchor="t"/>
          <a:lstStyle/>
          <a:p>
            <a:pPr indent="0" marL="0">
              <a:lnSpc>
                <a:spcPts val="2734"/>
              </a:lnSpc>
              <a:buNone/>
            </a:pPr>
            <a:r>
              <a:rPr lang="en-US" sz="2187" dirty="0">
                <a:solidFill>
                  <a:srgbClr val="1B1B27"/>
                </a:solidFill>
                <a:latin typeface="Corben" pitchFamily="34" charset="0"/>
                <a:ea typeface="Corben" pitchFamily="34" charset="-122"/>
                <a:cs typeface="Corben" pitchFamily="34" charset="-120"/>
              </a:rPr>
              <a:t>Rancho Kolunun Gelişimi</a:t>
            </a:r>
            <a:endParaRPr lang="en-US" sz="2187" dirty="0"/>
          </a:p>
        </p:txBody>
      </p:sp>
      <p:sp>
        <p:nvSpPr>
          <p:cNvPr id="8" name="Text 5"/>
          <p:cNvSpPr/>
          <p:nvPr/>
        </p:nvSpPr>
        <p:spPr>
          <a:xfrm>
            <a:off x="5743932" y="4031813"/>
            <a:ext cx="3156347" cy="2132409"/>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1963 yılında, Rancho Los Amigos Hastanesi’ndeki araştırmacılar, engelli hastaların taşınmasına yardımcı olmak için Rancho Kolunu geliştirdi.</a:t>
            </a:r>
            <a:endParaRPr lang="en-US" sz="1750" dirty="0"/>
          </a:p>
        </p:txBody>
      </p:sp>
      <p:sp>
        <p:nvSpPr>
          <p:cNvPr id="9" name="Text 6"/>
          <p:cNvSpPr/>
          <p:nvPr/>
        </p:nvSpPr>
        <p:spPr>
          <a:xfrm>
            <a:off x="9449872" y="3115270"/>
            <a:ext cx="3156347" cy="694373"/>
          </a:xfrm>
          <a:prstGeom prst="rect">
            <a:avLst/>
          </a:prstGeom>
          <a:noFill/>
          <a:ln/>
        </p:spPr>
        <p:txBody>
          <a:bodyPr wrap="square" rtlCol="0" anchor="t"/>
          <a:lstStyle/>
          <a:p>
            <a:pPr indent="0" marL="0">
              <a:lnSpc>
                <a:spcPts val="2734"/>
              </a:lnSpc>
              <a:buNone/>
            </a:pPr>
            <a:r>
              <a:rPr lang="en-US" sz="2187" dirty="0">
                <a:solidFill>
                  <a:srgbClr val="1B1B27"/>
                </a:solidFill>
                <a:latin typeface="Corben" pitchFamily="34" charset="0"/>
                <a:ea typeface="Corben" pitchFamily="34" charset="-122"/>
                <a:cs typeface="Corben" pitchFamily="34" charset="-120"/>
              </a:rPr>
              <a:t>Günümüzdeki Kullanım Alanları</a:t>
            </a:r>
            <a:endParaRPr lang="en-US" sz="2187" dirty="0"/>
          </a:p>
        </p:txBody>
      </p:sp>
      <p:sp>
        <p:nvSpPr>
          <p:cNvPr id="10" name="Text 7"/>
          <p:cNvSpPr/>
          <p:nvPr/>
        </p:nvSpPr>
        <p:spPr>
          <a:xfrm>
            <a:off x="9449872" y="4031813"/>
            <a:ext cx="3156347" cy="2132409"/>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Robot kolları günümüzde malzeme taşınması, paketleme, yapıştırma, kaynak yapma, boyama ve montaj gibi birçok alanda kullanılmaktadır.</a:t>
            </a:r>
            <a:endParaRPr lang="en-US" sz="1750" dirty="0"/>
          </a:p>
        </p:txBody>
      </p:sp>
      <p:pic>
        <p:nvPicPr>
          <p:cNvPr id="11"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p:cNvPr>
          <p:cNvPicPr>
            <a:picLocks noChangeAspect="1"/>
          </p:cNvPicPr>
          <p:nvPr/>
        </p:nvPicPr>
        <p:blipFill>
          <a:blip r:embed="rId2"/>
          <a:stretch>
            <a:fillRect/>
          </a:stretch>
        </p:blipFill>
        <p:spPr>
          <a:xfrm>
            <a:off x="0" y="0"/>
            <a:ext cx="3657600" cy="8229600"/>
          </a:xfrm>
          <a:prstGeom prst="rect">
            <a:avLst/>
          </a:prstGeom>
        </p:spPr>
      </p:pic>
      <p:sp>
        <p:nvSpPr>
          <p:cNvPr id="5" name="Text 1"/>
          <p:cNvSpPr/>
          <p:nvPr/>
        </p:nvSpPr>
        <p:spPr>
          <a:xfrm>
            <a:off x="4490799" y="1871067"/>
            <a:ext cx="8557260" cy="694373"/>
          </a:xfrm>
          <a:prstGeom prst="rect">
            <a:avLst/>
          </a:prstGeom>
          <a:noFill/>
          <a:ln/>
        </p:spPr>
        <p:txBody>
          <a:bodyPr wrap="none" rtlCol="0" anchor="t"/>
          <a:lstStyle/>
          <a:p>
            <a:pPr indent="0" marL="0">
              <a:lnSpc>
                <a:spcPts val="5468"/>
              </a:lnSpc>
              <a:buNone/>
            </a:pPr>
            <a:r>
              <a:rPr lang="en-US" sz="4374" dirty="0">
                <a:solidFill>
                  <a:srgbClr val="1B1B27"/>
                </a:solidFill>
                <a:latin typeface="Corben" pitchFamily="34" charset="0"/>
                <a:ea typeface="Corben" pitchFamily="34" charset="-122"/>
                <a:cs typeface="Corben" pitchFamily="34" charset="-120"/>
              </a:rPr>
              <a:t>Robot Kolların Kullanım Alanları</a:t>
            </a:r>
            <a:endParaRPr lang="en-US" sz="4374" dirty="0"/>
          </a:p>
        </p:txBody>
      </p:sp>
      <p:sp>
        <p:nvSpPr>
          <p:cNvPr id="6" name="Shape 2"/>
          <p:cNvSpPr/>
          <p:nvPr/>
        </p:nvSpPr>
        <p:spPr>
          <a:xfrm>
            <a:off x="4490799" y="3072289"/>
            <a:ext cx="499943" cy="499943"/>
          </a:xfrm>
          <a:prstGeom prst="roundRect">
            <a:avLst>
              <a:gd name="adj" fmla="val 20000"/>
            </a:avLst>
          </a:prstGeom>
          <a:solidFill>
            <a:srgbClr val="D2D9F9"/>
          </a:solidFill>
          <a:ln w="13811">
            <a:solidFill>
              <a:srgbClr val="A5B3F3"/>
            </a:solidFill>
            <a:prstDash val="solid"/>
          </a:ln>
        </p:spPr>
      </p:sp>
      <p:sp>
        <p:nvSpPr>
          <p:cNvPr id="7" name="Text 3"/>
          <p:cNvSpPr/>
          <p:nvPr/>
        </p:nvSpPr>
        <p:spPr>
          <a:xfrm>
            <a:off x="4691182" y="3113961"/>
            <a:ext cx="99060" cy="416481"/>
          </a:xfrm>
          <a:prstGeom prst="rect">
            <a:avLst/>
          </a:prstGeom>
          <a:noFill/>
          <a:ln/>
        </p:spPr>
        <p:txBody>
          <a:bodyPr wrap="none" rtlCol="0" anchor="t"/>
          <a:lstStyle/>
          <a:p>
            <a:pPr algn="ctr" indent="0" marL="0">
              <a:lnSpc>
                <a:spcPts val="3281"/>
              </a:lnSpc>
              <a:buNone/>
            </a:pPr>
            <a:r>
              <a:rPr lang="en-US" sz="2624" dirty="0">
                <a:solidFill>
                  <a:srgbClr val="404155"/>
                </a:solidFill>
                <a:latin typeface="Corben" pitchFamily="34" charset="0"/>
                <a:ea typeface="Corben" pitchFamily="34" charset="-122"/>
                <a:cs typeface="Corben" pitchFamily="34" charset="-120"/>
              </a:rPr>
              <a:t>1</a:t>
            </a:r>
            <a:endParaRPr lang="en-US" sz="2624" dirty="0"/>
          </a:p>
        </p:txBody>
      </p:sp>
      <p:sp>
        <p:nvSpPr>
          <p:cNvPr id="8" name="Text 4"/>
          <p:cNvSpPr/>
          <p:nvPr/>
        </p:nvSpPr>
        <p:spPr>
          <a:xfrm>
            <a:off x="5212913" y="3148608"/>
            <a:ext cx="3078480" cy="347186"/>
          </a:xfrm>
          <a:prstGeom prst="rect">
            <a:avLst/>
          </a:prstGeom>
          <a:noFill/>
          <a:ln/>
        </p:spPr>
        <p:txBody>
          <a:bodyPr wrap="non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Endüstriyel Otomasyon</a:t>
            </a:r>
            <a:endParaRPr lang="en-US" sz="2187" dirty="0"/>
          </a:p>
        </p:txBody>
      </p:sp>
      <p:sp>
        <p:nvSpPr>
          <p:cNvPr id="9" name="Text 5"/>
          <p:cNvSpPr/>
          <p:nvPr/>
        </p:nvSpPr>
        <p:spPr>
          <a:xfrm>
            <a:off x="5212913" y="3629025"/>
            <a:ext cx="3820001" cy="1066205"/>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Robot kolları endüstriyel otomasyon süreçlerinde yaygın olarak kullanılmaktadır.</a:t>
            </a:r>
            <a:endParaRPr lang="en-US" sz="1750" dirty="0"/>
          </a:p>
        </p:txBody>
      </p:sp>
      <p:sp>
        <p:nvSpPr>
          <p:cNvPr id="10" name="Shape 6"/>
          <p:cNvSpPr/>
          <p:nvPr/>
        </p:nvSpPr>
        <p:spPr>
          <a:xfrm>
            <a:off x="9255085" y="3072289"/>
            <a:ext cx="499943" cy="499943"/>
          </a:xfrm>
          <a:prstGeom prst="roundRect">
            <a:avLst>
              <a:gd name="adj" fmla="val 20000"/>
            </a:avLst>
          </a:prstGeom>
          <a:solidFill>
            <a:srgbClr val="D2D9F9"/>
          </a:solidFill>
          <a:ln w="13811">
            <a:solidFill>
              <a:srgbClr val="A5B3F3"/>
            </a:solidFill>
            <a:prstDash val="solid"/>
          </a:ln>
        </p:spPr>
      </p:sp>
      <p:sp>
        <p:nvSpPr>
          <p:cNvPr id="11" name="Text 7"/>
          <p:cNvSpPr/>
          <p:nvPr/>
        </p:nvSpPr>
        <p:spPr>
          <a:xfrm>
            <a:off x="9417368" y="3113961"/>
            <a:ext cx="175260" cy="416481"/>
          </a:xfrm>
          <a:prstGeom prst="rect">
            <a:avLst/>
          </a:prstGeom>
          <a:noFill/>
          <a:ln/>
        </p:spPr>
        <p:txBody>
          <a:bodyPr wrap="none" rtlCol="0" anchor="t"/>
          <a:lstStyle/>
          <a:p>
            <a:pPr algn="ctr" indent="0" marL="0">
              <a:lnSpc>
                <a:spcPts val="3281"/>
              </a:lnSpc>
              <a:buNone/>
            </a:pPr>
            <a:r>
              <a:rPr lang="en-US" sz="2624" dirty="0">
                <a:solidFill>
                  <a:srgbClr val="404155"/>
                </a:solidFill>
                <a:latin typeface="Corben" pitchFamily="34" charset="0"/>
                <a:ea typeface="Corben" pitchFamily="34" charset="-122"/>
                <a:cs typeface="Corben" pitchFamily="34" charset="-120"/>
              </a:rPr>
              <a:t>2</a:t>
            </a:r>
            <a:endParaRPr lang="en-US" sz="2624" dirty="0"/>
          </a:p>
        </p:txBody>
      </p:sp>
      <p:sp>
        <p:nvSpPr>
          <p:cNvPr id="12" name="Text 8"/>
          <p:cNvSpPr/>
          <p:nvPr/>
        </p:nvSpPr>
        <p:spPr>
          <a:xfrm>
            <a:off x="9977199" y="3148608"/>
            <a:ext cx="2727960" cy="347186"/>
          </a:xfrm>
          <a:prstGeom prst="rect">
            <a:avLst/>
          </a:prstGeom>
          <a:noFill/>
          <a:ln/>
        </p:spPr>
        <p:txBody>
          <a:bodyPr wrap="non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Akıllı Makine İmalatı</a:t>
            </a:r>
            <a:endParaRPr lang="en-US" sz="2187" dirty="0"/>
          </a:p>
        </p:txBody>
      </p:sp>
      <p:sp>
        <p:nvSpPr>
          <p:cNvPr id="13" name="Text 9"/>
          <p:cNvSpPr/>
          <p:nvPr/>
        </p:nvSpPr>
        <p:spPr>
          <a:xfrm>
            <a:off x="9977199" y="3629025"/>
            <a:ext cx="3820001" cy="1066205"/>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Gelişen teknoloji ile birlikte robot kolları akıllı makine imalatı süreçlerinde de kullanılmaktadır.</a:t>
            </a:r>
            <a:endParaRPr lang="en-US" sz="1750" dirty="0"/>
          </a:p>
        </p:txBody>
      </p:sp>
      <p:sp>
        <p:nvSpPr>
          <p:cNvPr id="14" name="Shape 10"/>
          <p:cNvSpPr/>
          <p:nvPr/>
        </p:nvSpPr>
        <p:spPr>
          <a:xfrm>
            <a:off x="4490799" y="5090993"/>
            <a:ext cx="499943" cy="499943"/>
          </a:xfrm>
          <a:prstGeom prst="roundRect">
            <a:avLst>
              <a:gd name="adj" fmla="val 20000"/>
            </a:avLst>
          </a:prstGeom>
          <a:solidFill>
            <a:srgbClr val="D2D9F9"/>
          </a:solidFill>
          <a:ln w="13811">
            <a:solidFill>
              <a:srgbClr val="A5B3F3"/>
            </a:solidFill>
            <a:prstDash val="solid"/>
          </a:ln>
        </p:spPr>
      </p:sp>
      <p:sp>
        <p:nvSpPr>
          <p:cNvPr id="15" name="Text 11"/>
          <p:cNvSpPr/>
          <p:nvPr/>
        </p:nvSpPr>
        <p:spPr>
          <a:xfrm>
            <a:off x="4645462" y="5132665"/>
            <a:ext cx="190500" cy="416481"/>
          </a:xfrm>
          <a:prstGeom prst="rect">
            <a:avLst/>
          </a:prstGeom>
          <a:noFill/>
          <a:ln/>
        </p:spPr>
        <p:txBody>
          <a:bodyPr wrap="none" rtlCol="0" anchor="t"/>
          <a:lstStyle/>
          <a:p>
            <a:pPr algn="ctr" indent="0" marL="0">
              <a:lnSpc>
                <a:spcPts val="3281"/>
              </a:lnSpc>
              <a:buNone/>
            </a:pPr>
            <a:r>
              <a:rPr lang="en-US" sz="2624" dirty="0">
                <a:solidFill>
                  <a:srgbClr val="404155"/>
                </a:solidFill>
                <a:latin typeface="Corben" pitchFamily="34" charset="0"/>
                <a:ea typeface="Corben" pitchFamily="34" charset="-122"/>
                <a:cs typeface="Corben" pitchFamily="34" charset="-120"/>
              </a:rPr>
              <a:t>3</a:t>
            </a:r>
            <a:endParaRPr lang="en-US" sz="2624" dirty="0"/>
          </a:p>
        </p:txBody>
      </p:sp>
      <p:sp>
        <p:nvSpPr>
          <p:cNvPr id="16" name="Text 12"/>
          <p:cNvSpPr/>
          <p:nvPr/>
        </p:nvSpPr>
        <p:spPr>
          <a:xfrm>
            <a:off x="5212913" y="5167313"/>
            <a:ext cx="2221944" cy="347186"/>
          </a:xfrm>
          <a:prstGeom prst="rect">
            <a:avLst/>
          </a:prstGeom>
          <a:noFill/>
          <a:ln/>
        </p:spPr>
        <p:txBody>
          <a:bodyPr wrap="non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Ev Otomasyonu</a:t>
            </a:r>
            <a:endParaRPr lang="en-US" sz="2187" dirty="0"/>
          </a:p>
        </p:txBody>
      </p:sp>
      <p:sp>
        <p:nvSpPr>
          <p:cNvPr id="17" name="Text 13"/>
          <p:cNvSpPr/>
          <p:nvPr/>
        </p:nvSpPr>
        <p:spPr>
          <a:xfrm>
            <a:off x="5212913" y="5647730"/>
            <a:ext cx="8584287" cy="710803"/>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Robot kolları, endüstriyel otomasyon süreçlerinden ev otomasyonuna kadar geniş bir uygulama yelpazesinde kullanılabilmektedir.</a:t>
            </a:r>
            <a:endParaRPr lang="en-US" sz="1750" dirty="0"/>
          </a:p>
        </p:txBody>
      </p:sp>
      <p:pic>
        <p:nvPicPr>
          <p:cNvPr id="18"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30791"/>
          </a:xfrm>
          <a:prstGeom prst="rect">
            <a:avLst/>
          </a:prstGeom>
          <a:solidFill>
            <a:srgbClr val="F9F9FF">
              <a:alpha val="75000"/>
            </a:srgbClr>
          </a:solidFill>
          <a:ln/>
        </p:spPr>
      </p:sp>
      <p:pic>
        <p:nvPicPr>
          <p:cNvPr id="4" name="Image 1" descr="preencoded.png">    </p:cNvPr>
          <p:cNvPicPr>
            <a:picLocks noChangeAspect="1"/>
          </p:cNvPicPr>
          <p:nvPr/>
        </p:nvPicPr>
        <p:blipFill>
          <a:blip r:embed="rId2"/>
          <a:stretch>
            <a:fillRect/>
          </a:stretch>
        </p:blipFill>
        <p:spPr>
          <a:xfrm>
            <a:off x="0" y="0"/>
            <a:ext cx="3657600" cy="8230791"/>
          </a:xfrm>
          <a:prstGeom prst="rect">
            <a:avLst/>
          </a:prstGeom>
        </p:spPr>
      </p:pic>
      <p:sp>
        <p:nvSpPr>
          <p:cNvPr id="5" name="Text 1"/>
          <p:cNvSpPr/>
          <p:nvPr/>
        </p:nvSpPr>
        <p:spPr>
          <a:xfrm>
            <a:off x="4486156" y="607576"/>
            <a:ext cx="9315688" cy="1381125"/>
          </a:xfrm>
          <a:prstGeom prst="rect">
            <a:avLst/>
          </a:prstGeom>
          <a:noFill/>
          <a:ln/>
        </p:spPr>
        <p:txBody>
          <a:bodyPr wrap="square" rtlCol="0" anchor="t"/>
          <a:lstStyle/>
          <a:p>
            <a:pPr indent="0" marL="0">
              <a:lnSpc>
                <a:spcPts val="5437"/>
              </a:lnSpc>
              <a:buNone/>
            </a:pPr>
            <a:r>
              <a:rPr lang="en-US" sz="4350" dirty="0">
                <a:solidFill>
                  <a:srgbClr val="1B1B27"/>
                </a:solidFill>
                <a:latin typeface="Corben" pitchFamily="34" charset="0"/>
                <a:ea typeface="Corben" pitchFamily="34" charset="-122"/>
                <a:cs typeface="Corben" pitchFamily="34" charset="-120"/>
              </a:rPr>
              <a:t>Robot Kolların Gelişiminde Makine Öğrenmesi</a:t>
            </a:r>
            <a:endParaRPr lang="en-US" sz="4350" dirty="0"/>
          </a:p>
        </p:txBody>
      </p:sp>
      <p:pic>
        <p:nvPicPr>
          <p:cNvPr id="6" name="Image 2" descr="preencoded.png">    </p:cNvPr>
          <p:cNvPicPr>
            <a:picLocks noChangeAspect="1"/>
          </p:cNvPicPr>
          <p:nvPr/>
        </p:nvPicPr>
        <p:blipFill>
          <a:blip r:embed="rId3"/>
          <a:stretch>
            <a:fillRect/>
          </a:stretch>
        </p:blipFill>
        <p:spPr>
          <a:xfrm>
            <a:off x="4486156" y="2320052"/>
            <a:ext cx="1104781" cy="1767721"/>
          </a:xfrm>
          <a:prstGeom prst="rect">
            <a:avLst/>
          </a:prstGeom>
        </p:spPr>
      </p:pic>
      <p:sp>
        <p:nvSpPr>
          <p:cNvPr id="7" name="Text 2"/>
          <p:cNvSpPr/>
          <p:nvPr/>
        </p:nvSpPr>
        <p:spPr>
          <a:xfrm>
            <a:off x="5922288" y="2540913"/>
            <a:ext cx="3497580" cy="345281"/>
          </a:xfrm>
          <a:prstGeom prst="rect">
            <a:avLst/>
          </a:prstGeom>
          <a:noFill/>
          <a:ln/>
        </p:spPr>
        <p:txBody>
          <a:bodyPr wrap="none" rtlCol="0" anchor="t"/>
          <a:lstStyle/>
          <a:p>
            <a:pPr algn="l" indent="0" marL="0">
              <a:lnSpc>
                <a:spcPts val="2719"/>
              </a:lnSpc>
              <a:buNone/>
            </a:pPr>
            <a:r>
              <a:rPr lang="en-US" sz="2175" dirty="0">
                <a:solidFill>
                  <a:srgbClr val="404155"/>
                </a:solidFill>
                <a:latin typeface="Corben" pitchFamily="34" charset="0"/>
                <a:ea typeface="Corben" pitchFamily="34" charset="-122"/>
                <a:cs typeface="Corben" pitchFamily="34" charset="-120"/>
              </a:rPr>
              <a:t>Veri Toplama ve Etiketleme</a:t>
            </a:r>
            <a:endParaRPr lang="en-US" sz="2175" dirty="0"/>
          </a:p>
        </p:txBody>
      </p:sp>
      <p:sp>
        <p:nvSpPr>
          <p:cNvPr id="8" name="Text 3"/>
          <p:cNvSpPr/>
          <p:nvPr/>
        </p:nvSpPr>
        <p:spPr>
          <a:xfrm>
            <a:off x="5922288" y="3018711"/>
            <a:ext cx="7879556" cy="706993"/>
          </a:xfrm>
          <a:prstGeom prst="rect">
            <a:avLst/>
          </a:prstGeom>
          <a:noFill/>
          <a:ln/>
        </p:spPr>
        <p:txBody>
          <a:bodyPr wrap="square" rtlCol="0" anchor="t"/>
          <a:lstStyle/>
          <a:p>
            <a:pPr algn="l" indent="0" marL="0">
              <a:lnSpc>
                <a:spcPts val="2784"/>
              </a:lnSpc>
              <a:buNone/>
            </a:pPr>
            <a:r>
              <a:rPr lang="en-US" sz="1740" dirty="0">
                <a:solidFill>
                  <a:srgbClr val="404155"/>
                </a:solidFill>
                <a:latin typeface="Nobile" pitchFamily="34" charset="0"/>
                <a:ea typeface="Nobile" pitchFamily="34" charset="-122"/>
                <a:cs typeface="Nobile" pitchFamily="34" charset="-120"/>
              </a:rPr>
              <a:t>Çeşitli ortamlarda bulunan nesneleri tanıyabilen bir model oluşturmak için geniş bir veri seti toplanacak ve etiketlenecektir.</a:t>
            </a:r>
            <a:endParaRPr lang="en-US" sz="1740" dirty="0"/>
          </a:p>
        </p:txBody>
      </p:sp>
      <p:pic>
        <p:nvPicPr>
          <p:cNvPr id="9" name="Image 3" descr="preencoded.png">    </p:cNvPr>
          <p:cNvPicPr>
            <a:picLocks noChangeAspect="1"/>
          </p:cNvPicPr>
          <p:nvPr/>
        </p:nvPicPr>
        <p:blipFill>
          <a:blip r:embed="rId4"/>
          <a:stretch>
            <a:fillRect/>
          </a:stretch>
        </p:blipFill>
        <p:spPr>
          <a:xfrm>
            <a:off x="4486156" y="4087773"/>
            <a:ext cx="1104781" cy="1767721"/>
          </a:xfrm>
          <a:prstGeom prst="rect">
            <a:avLst/>
          </a:prstGeom>
        </p:spPr>
      </p:pic>
      <p:sp>
        <p:nvSpPr>
          <p:cNvPr id="10" name="Text 4"/>
          <p:cNvSpPr/>
          <p:nvPr/>
        </p:nvSpPr>
        <p:spPr>
          <a:xfrm>
            <a:off x="5922288" y="4308634"/>
            <a:ext cx="2948940" cy="345281"/>
          </a:xfrm>
          <a:prstGeom prst="rect">
            <a:avLst/>
          </a:prstGeom>
          <a:noFill/>
          <a:ln/>
        </p:spPr>
        <p:txBody>
          <a:bodyPr wrap="none" rtlCol="0" anchor="t"/>
          <a:lstStyle/>
          <a:p>
            <a:pPr algn="l" indent="0" marL="0">
              <a:lnSpc>
                <a:spcPts val="2719"/>
              </a:lnSpc>
              <a:buNone/>
            </a:pPr>
            <a:r>
              <a:rPr lang="en-US" sz="2175" dirty="0">
                <a:solidFill>
                  <a:srgbClr val="404155"/>
                </a:solidFill>
                <a:latin typeface="Corben" pitchFamily="34" charset="0"/>
                <a:ea typeface="Corben" pitchFamily="34" charset="-122"/>
                <a:cs typeface="Corben" pitchFamily="34" charset="-120"/>
              </a:rPr>
              <a:t>Evrişimsel Sinir Ağları</a:t>
            </a:r>
            <a:endParaRPr lang="en-US" sz="2175" dirty="0"/>
          </a:p>
        </p:txBody>
      </p:sp>
      <p:sp>
        <p:nvSpPr>
          <p:cNvPr id="11" name="Text 5"/>
          <p:cNvSpPr/>
          <p:nvPr/>
        </p:nvSpPr>
        <p:spPr>
          <a:xfrm>
            <a:off x="5922288" y="4786432"/>
            <a:ext cx="7879556" cy="706993"/>
          </a:xfrm>
          <a:prstGeom prst="rect">
            <a:avLst/>
          </a:prstGeom>
          <a:noFill/>
          <a:ln/>
        </p:spPr>
        <p:txBody>
          <a:bodyPr wrap="square" rtlCol="0" anchor="t"/>
          <a:lstStyle/>
          <a:p>
            <a:pPr algn="l" indent="0" marL="0">
              <a:lnSpc>
                <a:spcPts val="2784"/>
              </a:lnSpc>
              <a:buNone/>
            </a:pPr>
            <a:r>
              <a:rPr lang="en-US" sz="1740" dirty="0">
                <a:solidFill>
                  <a:srgbClr val="404155"/>
                </a:solidFill>
                <a:latin typeface="Nobile" pitchFamily="34" charset="0"/>
                <a:ea typeface="Nobile" pitchFamily="34" charset="-122"/>
                <a:cs typeface="Nobile" pitchFamily="34" charset="-120"/>
              </a:rPr>
              <a:t>CNN genellikle görüntü işlemede kullanılan ve girdi olarak görselleri alan bir derin öğrenme algoritmasıdır.</a:t>
            </a:r>
            <a:endParaRPr lang="en-US" sz="1740" dirty="0"/>
          </a:p>
        </p:txBody>
      </p:sp>
      <p:pic>
        <p:nvPicPr>
          <p:cNvPr id="12" name="Image 4" descr="preencoded.png">    </p:cNvPr>
          <p:cNvPicPr>
            <a:picLocks noChangeAspect="1"/>
          </p:cNvPicPr>
          <p:nvPr/>
        </p:nvPicPr>
        <p:blipFill>
          <a:blip r:embed="rId5"/>
          <a:stretch>
            <a:fillRect/>
          </a:stretch>
        </p:blipFill>
        <p:spPr>
          <a:xfrm>
            <a:off x="4486156" y="5855494"/>
            <a:ext cx="1104781" cy="1767721"/>
          </a:xfrm>
          <a:prstGeom prst="rect">
            <a:avLst/>
          </a:prstGeom>
        </p:spPr>
      </p:pic>
      <p:sp>
        <p:nvSpPr>
          <p:cNvPr id="13" name="Text 6"/>
          <p:cNvSpPr/>
          <p:nvPr/>
        </p:nvSpPr>
        <p:spPr>
          <a:xfrm>
            <a:off x="5922288" y="6076355"/>
            <a:ext cx="3489960" cy="345281"/>
          </a:xfrm>
          <a:prstGeom prst="rect">
            <a:avLst/>
          </a:prstGeom>
          <a:noFill/>
          <a:ln/>
        </p:spPr>
        <p:txBody>
          <a:bodyPr wrap="none" rtlCol="0" anchor="t"/>
          <a:lstStyle/>
          <a:p>
            <a:pPr algn="l" indent="0" marL="0">
              <a:lnSpc>
                <a:spcPts val="2719"/>
              </a:lnSpc>
              <a:buNone/>
            </a:pPr>
            <a:r>
              <a:rPr lang="en-US" sz="2175" dirty="0">
                <a:solidFill>
                  <a:srgbClr val="404155"/>
                </a:solidFill>
                <a:latin typeface="Corben" pitchFamily="34" charset="0"/>
                <a:ea typeface="Corben" pitchFamily="34" charset="-122"/>
                <a:cs typeface="Corben" pitchFamily="34" charset="-120"/>
              </a:rPr>
              <a:t>Robot Kolunun Yetenekleri</a:t>
            </a:r>
            <a:endParaRPr lang="en-US" sz="2175" dirty="0"/>
          </a:p>
        </p:txBody>
      </p:sp>
      <p:sp>
        <p:nvSpPr>
          <p:cNvPr id="14" name="Text 7"/>
          <p:cNvSpPr/>
          <p:nvPr/>
        </p:nvSpPr>
        <p:spPr>
          <a:xfrm>
            <a:off x="5922288" y="6554153"/>
            <a:ext cx="7879556" cy="706993"/>
          </a:xfrm>
          <a:prstGeom prst="rect">
            <a:avLst/>
          </a:prstGeom>
          <a:noFill/>
          <a:ln/>
        </p:spPr>
        <p:txBody>
          <a:bodyPr wrap="square" rtlCol="0" anchor="t"/>
          <a:lstStyle/>
          <a:p>
            <a:pPr algn="l" indent="0" marL="0">
              <a:lnSpc>
                <a:spcPts val="2784"/>
              </a:lnSpc>
              <a:buNone/>
            </a:pPr>
            <a:r>
              <a:rPr lang="en-US" sz="1740" dirty="0">
                <a:solidFill>
                  <a:srgbClr val="404155"/>
                </a:solidFill>
                <a:latin typeface="Nobile" pitchFamily="34" charset="0"/>
                <a:ea typeface="Nobile" pitchFamily="34" charset="-122"/>
                <a:cs typeface="Nobile" pitchFamily="34" charset="-120"/>
              </a:rPr>
              <a:t>Derin öğrenme modeli sayesinde robot, kamera ile gördüğü nesneleri tanıyabilecek ve sınıflandırabilecektir.</a:t>
            </a:r>
            <a:endParaRPr lang="en-US" sz="1740" dirty="0"/>
          </a:p>
        </p:txBody>
      </p:sp>
      <p:pic>
        <p:nvPicPr>
          <p:cNvPr id="15" name="Image 5" descr="preencoded.png">
            <a:hlinkClick r:id="rId7" tooltip=""/>
          </p:cNvPr>
          <p:cNvPicPr>
            <a:picLocks noChangeAspect="1"/>
          </p:cNvPicPr>
          <p:nvPr/>
        </p:nvPicPr>
        <p:blipFill>
          <a:blip r:embed="rId6"/>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p:cNvPr>
          <p:cNvPicPr>
            <a:picLocks noChangeAspect="1"/>
          </p:cNvPicPr>
          <p:nvPr/>
        </p:nvPicPr>
        <p:blipFill>
          <a:blip r:embed="rId2"/>
          <a:stretch>
            <a:fillRect/>
          </a:stretch>
        </p:blipFill>
        <p:spPr>
          <a:xfrm>
            <a:off x="0" y="0"/>
            <a:ext cx="3657600" cy="8229600"/>
          </a:xfrm>
          <a:prstGeom prst="rect">
            <a:avLst/>
          </a:prstGeom>
        </p:spPr>
      </p:pic>
      <p:sp>
        <p:nvSpPr>
          <p:cNvPr id="5" name="Text 1"/>
          <p:cNvSpPr/>
          <p:nvPr/>
        </p:nvSpPr>
        <p:spPr>
          <a:xfrm>
            <a:off x="4490799" y="1124069"/>
            <a:ext cx="9306401" cy="1388745"/>
          </a:xfrm>
          <a:prstGeom prst="rect">
            <a:avLst/>
          </a:prstGeom>
          <a:noFill/>
          <a:ln/>
        </p:spPr>
        <p:txBody>
          <a:bodyPr wrap="square" rtlCol="0" anchor="t"/>
          <a:lstStyle/>
          <a:p>
            <a:pPr indent="0" marL="0">
              <a:lnSpc>
                <a:spcPts val="5468"/>
              </a:lnSpc>
              <a:buNone/>
            </a:pPr>
            <a:r>
              <a:rPr lang="en-US" sz="4374" dirty="0">
                <a:solidFill>
                  <a:srgbClr val="1B1B27"/>
                </a:solidFill>
                <a:latin typeface="Corben" pitchFamily="34" charset="0"/>
                <a:ea typeface="Corben" pitchFamily="34" charset="-122"/>
                <a:cs typeface="Corben" pitchFamily="34" charset="-120"/>
              </a:rPr>
              <a:t>Robot Kolların Kinematik Hesaplamaları</a:t>
            </a:r>
            <a:endParaRPr lang="en-US" sz="4374" dirty="0"/>
          </a:p>
        </p:txBody>
      </p:sp>
      <p:sp>
        <p:nvSpPr>
          <p:cNvPr id="6" name="Shape 2"/>
          <p:cNvSpPr/>
          <p:nvPr/>
        </p:nvSpPr>
        <p:spPr>
          <a:xfrm>
            <a:off x="4490799" y="2846070"/>
            <a:ext cx="4542115" cy="2373987"/>
          </a:xfrm>
          <a:prstGeom prst="roundRect">
            <a:avLst>
              <a:gd name="adj" fmla="val 4212"/>
            </a:avLst>
          </a:prstGeom>
          <a:solidFill>
            <a:srgbClr val="D2D9F9"/>
          </a:solidFill>
          <a:ln w="13811">
            <a:solidFill>
              <a:srgbClr val="A5B3F3"/>
            </a:solidFill>
            <a:prstDash val="solid"/>
          </a:ln>
        </p:spPr>
      </p:sp>
      <p:sp>
        <p:nvSpPr>
          <p:cNvPr id="7" name="Text 3"/>
          <p:cNvSpPr/>
          <p:nvPr/>
        </p:nvSpPr>
        <p:spPr>
          <a:xfrm>
            <a:off x="4726781" y="3082052"/>
            <a:ext cx="3223260" cy="347186"/>
          </a:xfrm>
          <a:prstGeom prst="rect">
            <a:avLst/>
          </a:prstGeom>
          <a:noFill/>
          <a:ln/>
        </p:spPr>
        <p:txBody>
          <a:bodyPr wrap="non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Ters Kinematik Problemi</a:t>
            </a:r>
            <a:endParaRPr lang="en-US" sz="2187" dirty="0"/>
          </a:p>
        </p:txBody>
      </p:sp>
      <p:sp>
        <p:nvSpPr>
          <p:cNvPr id="8" name="Text 4"/>
          <p:cNvSpPr/>
          <p:nvPr/>
        </p:nvSpPr>
        <p:spPr>
          <a:xfrm>
            <a:off x="4726781" y="3562469"/>
            <a:ext cx="4070152" cy="1421606"/>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Robot kollarında, her eklem için bir matris yazılır ve sondan başa varış şeklinde birbirine bağlı olarak çözülerek eklem açıları hesaplanır.</a:t>
            </a:r>
            <a:endParaRPr lang="en-US" sz="1750" dirty="0"/>
          </a:p>
        </p:txBody>
      </p:sp>
      <p:sp>
        <p:nvSpPr>
          <p:cNvPr id="9" name="Shape 5"/>
          <p:cNvSpPr/>
          <p:nvPr/>
        </p:nvSpPr>
        <p:spPr>
          <a:xfrm>
            <a:off x="9255085" y="2846070"/>
            <a:ext cx="4542115" cy="2373987"/>
          </a:xfrm>
          <a:prstGeom prst="roundRect">
            <a:avLst>
              <a:gd name="adj" fmla="val 4212"/>
            </a:avLst>
          </a:prstGeom>
          <a:solidFill>
            <a:srgbClr val="D2D9F9"/>
          </a:solidFill>
          <a:ln w="13811">
            <a:solidFill>
              <a:srgbClr val="A5B3F3"/>
            </a:solidFill>
            <a:prstDash val="solid"/>
          </a:ln>
        </p:spPr>
      </p:sp>
      <p:sp>
        <p:nvSpPr>
          <p:cNvPr id="10" name="Text 6"/>
          <p:cNvSpPr/>
          <p:nvPr/>
        </p:nvSpPr>
        <p:spPr>
          <a:xfrm>
            <a:off x="9491067" y="3082052"/>
            <a:ext cx="4070152" cy="694373"/>
          </a:xfrm>
          <a:prstGeom prst="rect">
            <a:avLst/>
          </a:prstGeom>
          <a:noFill/>
          <a:ln/>
        </p:spPr>
        <p:txBody>
          <a:bodyPr wrap="squar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Ters Kinematik Matematiksel Yapısı</a:t>
            </a:r>
            <a:endParaRPr lang="en-US" sz="2187" dirty="0"/>
          </a:p>
        </p:txBody>
      </p:sp>
      <p:sp>
        <p:nvSpPr>
          <p:cNvPr id="11" name="Text 7"/>
          <p:cNvSpPr/>
          <p:nvPr/>
        </p:nvSpPr>
        <p:spPr>
          <a:xfrm>
            <a:off x="9491067" y="3909655"/>
            <a:ext cx="4070152" cy="1066205"/>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Ters kinematik hesaplamalarda, aynı girdi ile birden fazla sonuca ulaşmak mümkündür.</a:t>
            </a:r>
            <a:endParaRPr lang="en-US" sz="1750" dirty="0"/>
          </a:p>
        </p:txBody>
      </p:sp>
      <p:sp>
        <p:nvSpPr>
          <p:cNvPr id="12" name="Shape 8"/>
          <p:cNvSpPr/>
          <p:nvPr/>
        </p:nvSpPr>
        <p:spPr>
          <a:xfrm>
            <a:off x="4490799" y="5442228"/>
            <a:ext cx="9306401" cy="1663184"/>
          </a:xfrm>
          <a:prstGeom prst="roundRect">
            <a:avLst>
              <a:gd name="adj" fmla="val 6012"/>
            </a:avLst>
          </a:prstGeom>
          <a:solidFill>
            <a:srgbClr val="D2D9F9"/>
          </a:solidFill>
          <a:ln w="13811">
            <a:solidFill>
              <a:srgbClr val="A5B3F3"/>
            </a:solidFill>
            <a:prstDash val="solid"/>
          </a:ln>
        </p:spPr>
      </p:sp>
      <p:sp>
        <p:nvSpPr>
          <p:cNvPr id="13" name="Text 9"/>
          <p:cNvSpPr/>
          <p:nvPr/>
        </p:nvSpPr>
        <p:spPr>
          <a:xfrm>
            <a:off x="4726781" y="5678210"/>
            <a:ext cx="3101340" cy="347186"/>
          </a:xfrm>
          <a:prstGeom prst="rect">
            <a:avLst/>
          </a:prstGeom>
          <a:noFill/>
          <a:ln/>
        </p:spPr>
        <p:txBody>
          <a:bodyPr wrap="non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Doğrusal Olmayan Yapı</a:t>
            </a:r>
            <a:endParaRPr lang="en-US" sz="2187" dirty="0"/>
          </a:p>
        </p:txBody>
      </p:sp>
      <p:sp>
        <p:nvSpPr>
          <p:cNvPr id="14" name="Text 10"/>
          <p:cNvSpPr/>
          <p:nvPr/>
        </p:nvSpPr>
        <p:spPr>
          <a:xfrm>
            <a:off x="4726781" y="6158627"/>
            <a:ext cx="8834438" cy="710803"/>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Ters kinematik hesaplamaların doğrusal olmayan yapısını arttırmakta ve problem yapısını eklem sayısıyla orantılı olarak karmaşıklaştırmaktadır.</a:t>
            </a:r>
            <a:endParaRPr lang="en-US" sz="1750" dirty="0"/>
          </a:p>
        </p:txBody>
      </p:sp>
      <p:pic>
        <p:nvPicPr>
          <p:cNvPr id="15"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sp>
        <p:nvSpPr>
          <p:cNvPr id="4" name="Text 1"/>
          <p:cNvSpPr/>
          <p:nvPr/>
        </p:nvSpPr>
        <p:spPr>
          <a:xfrm>
            <a:off x="2037993" y="2224921"/>
            <a:ext cx="10554414" cy="1388745"/>
          </a:xfrm>
          <a:prstGeom prst="rect">
            <a:avLst/>
          </a:prstGeom>
          <a:noFill/>
          <a:ln/>
        </p:spPr>
        <p:txBody>
          <a:bodyPr wrap="square" rtlCol="0" anchor="t"/>
          <a:lstStyle/>
          <a:p>
            <a:pPr indent="0" marL="0">
              <a:lnSpc>
                <a:spcPts val="5468"/>
              </a:lnSpc>
              <a:buNone/>
            </a:pPr>
            <a:r>
              <a:rPr lang="en-US" sz="4374" dirty="0">
                <a:solidFill>
                  <a:srgbClr val="1B1B27"/>
                </a:solidFill>
                <a:latin typeface="Corben" pitchFamily="34" charset="0"/>
                <a:ea typeface="Corben" pitchFamily="34" charset="-122"/>
                <a:cs typeface="Corben" pitchFamily="34" charset="-120"/>
              </a:rPr>
              <a:t>Robot Kolların Endüstriyel Uygulamaları</a:t>
            </a:r>
            <a:endParaRPr lang="en-US" sz="4374" dirty="0"/>
          </a:p>
        </p:txBody>
      </p:sp>
      <p:sp>
        <p:nvSpPr>
          <p:cNvPr id="5" name="Text 2"/>
          <p:cNvSpPr/>
          <p:nvPr/>
        </p:nvSpPr>
        <p:spPr>
          <a:xfrm>
            <a:off x="2037993" y="4169093"/>
            <a:ext cx="2221944" cy="347186"/>
          </a:xfrm>
          <a:prstGeom prst="rect">
            <a:avLst/>
          </a:prstGeom>
          <a:noFill/>
          <a:ln/>
        </p:spPr>
        <p:txBody>
          <a:bodyPr wrap="none" rtlCol="0" anchor="t"/>
          <a:lstStyle/>
          <a:p>
            <a:pPr indent="0" marL="0">
              <a:lnSpc>
                <a:spcPts val="2734"/>
              </a:lnSpc>
              <a:buNone/>
            </a:pPr>
            <a:r>
              <a:rPr lang="en-US" sz="2187" dirty="0">
                <a:solidFill>
                  <a:srgbClr val="1B1B27"/>
                </a:solidFill>
                <a:latin typeface="Corben" pitchFamily="34" charset="0"/>
                <a:ea typeface="Corben" pitchFamily="34" charset="-122"/>
                <a:cs typeface="Corben" pitchFamily="34" charset="-120"/>
              </a:rPr>
              <a:t>Seri Robot Kollar</a:t>
            </a:r>
            <a:endParaRPr lang="en-US" sz="2187" dirty="0"/>
          </a:p>
        </p:txBody>
      </p:sp>
      <p:sp>
        <p:nvSpPr>
          <p:cNvPr id="6" name="Text 3"/>
          <p:cNvSpPr/>
          <p:nvPr/>
        </p:nvSpPr>
        <p:spPr>
          <a:xfrm>
            <a:off x="2037993" y="4738449"/>
            <a:ext cx="5006221" cy="1066205"/>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Seri robot kolları, geniş çalışma uzayına, az sayıda mekanik parçaya ve paralel robotlara göre daha basit kinematik denklemlere sahiptir.</a:t>
            </a:r>
            <a:endParaRPr lang="en-US" sz="1750" dirty="0"/>
          </a:p>
        </p:txBody>
      </p:sp>
      <p:sp>
        <p:nvSpPr>
          <p:cNvPr id="7" name="Text 4"/>
          <p:cNvSpPr/>
          <p:nvPr/>
        </p:nvSpPr>
        <p:spPr>
          <a:xfrm>
            <a:off x="7593806" y="4169093"/>
            <a:ext cx="2606040" cy="347186"/>
          </a:xfrm>
          <a:prstGeom prst="rect">
            <a:avLst/>
          </a:prstGeom>
          <a:noFill/>
          <a:ln/>
        </p:spPr>
        <p:txBody>
          <a:bodyPr wrap="none" rtlCol="0" anchor="t"/>
          <a:lstStyle/>
          <a:p>
            <a:pPr indent="0" marL="0">
              <a:lnSpc>
                <a:spcPts val="2734"/>
              </a:lnSpc>
              <a:buNone/>
            </a:pPr>
            <a:r>
              <a:rPr lang="en-US" sz="2187" dirty="0">
                <a:solidFill>
                  <a:srgbClr val="1B1B27"/>
                </a:solidFill>
                <a:latin typeface="Corben" pitchFamily="34" charset="0"/>
                <a:ea typeface="Corben" pitchFamily="34" charset="-122"/>
                <a:cs typeface="Corben" pitchFamily="34" charset="-120"/>
              </a:rPr>
              <a:t>Paralel Robot Kollar</a:t>
            </a:r>
            <a:endParaRPr lang="en-US" sz="2187" dirty="0"/>
          </a:p>
        </p:txBody>
      </p:sp>
      <p:sp>
        <p:nvSpPr>
          <p:cNvPr id="8" name="Text 5"/>
          <p:cNvSpPr/>
          <p:nvPr/>
        </p:nvSpPr>
        <p:spPr>
          <a:xfrm>
            <a:off x="7593806" y="4738449"/>
            <a:ext cx="5006221" cy="710803"/>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Paralel robot kolları, seri robotlara göre daha sağlam bir mekanik yapıya sahiptir.</a:t>
            </a:r>
            <a:endParaRPr lang="en-US" sz="1750" dirty="0"/>
          </a:p>
        </p:txBody>
      </p:sp>
      <p:pic>
        <p:nvPicPr>
          <p:cNvPr id="9"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p:cNvPr>
          <p:cNvPicPr>
            <a:picLocks noChangeAspect="1"/>
          </p:cNvPicPr>
          <p:nvPr/>
        </p:nvPicPr>
        <p:blipFill>
          <a:blip r:embed="rId2"/>
          <a:stretch>
            <a:fillRect/>
          </a:stretch>
        </p:blipFill>
        <p:spPr>
          <a:xfrm>
            <a:off x="10972800" y="0"/>
            <a:ext cx="3657600" cy="8229600"/>
          </a:xfrm>
          <a:prstGeom prst="rect">
            <a:avLst/>
          </a:prstGeom>
        </p:spPr>
      </p:pic>
      <p:sp>
        <p:nvSpPr>
          <p:cNvPr id="5" name="Text 1"/>
          <p:cNvSpPr/>
          <p:nvPr/>
        </p:nvSpPr>
        <p:spPr>
          <a:xfrm>
            <a:off x="833199" y="2177772"/>
            <a:ext cx="9306401" cy="1388745"/>
          </a:xfrm>
          <a:prstGeom prst="rect">
            <a:avLst/>
          </a:prstGeom>
          <a:noFill/>
          <a:ln/>
        </p:spPr>
        <p:txBody>
          <a:bodyPr wrap="square" rtlCol="0" anchor="t"/>
          <a:lstStyle/>
          <a:p>
            <a:pPr indent="0" marL="0">
              <a:lnSpc>
                <a:spcPts val="5468"/>
              </a:lnSpc>
              <a:buNone/>
            </a:pPr>
            <a:r>
              <a:rPr lang="en-US" sz="4374" dirty="0">
                <a:solidFill>
                  <a:srgbClr val="1B1B27"/>
                </a:solidFill>
                <a:latin typeface="Corben" pitchFamily="34" charset="0"/>
                <a:ea typeface="Corben" pitchFamily="34" charset="-122"/>
                <a:cs typeface="Corben" pitchFamily="34" charset="-120"/>
              </a:rPr>
              <a:t>Robot Kolların Modern Kullanım Alanları</a:t>
            </a:r>
            <a:endParaRPr lang="en-US" sz="4374" dirty="0"/>
          </a:p>
        </p:txBody>
      </p:sp>
      <p:sp>
        <p:nvSpPr>
          <p:cNvPr id="6" name="Shape 2"/>
          <p:cNvSpPr/>
          <p:nvPr/>
        </p:nvSpPr>
        <p:spPr>
          <a:xfrm>
            <a:off x="833199" y="4073366"/>
            <a:ext cx="499943" cy="499943"/>
          </a:xfrm>
          <a:prstGeom prst="roundRect">
            <a:avLst>
              <a:gd name="adj" fmla="val 20000"/>
            </a:avLst>
          </a:prstGeom>
          <a:solidFill>
            <a:srgbClr val="D2D9F9"/>
          </a:solidFill>
          <a:ln w="13811">
            <a:solidFill>
              <a:srgbClr val="A5B3F3"/>
            </a:solidFill>
            <a:prstDash val="solid"/>
          </a:ln>
        </p:spPr>
      </p:sp>
      <p:sp>
        <p:nvSpPr>
          <p:cNvPr id="7" name="Text 3"/>
          <p:cNvSpPr/>
          <p:nvPr/>
        </p:nvSpPr>
        <p:spPr>
          <a:xfrm>
            <a:off x="1033582" y="4115038"/>
            <a:ext cx="99060" cy="416481"/>
          </a:xfrm>
          <a:prstGeom prst="rect">
            <a:avLst/>
          </a:prstGeom>
          <a:noFill/>
          <a:ln/>
        </p:spPr>
        <p:txBody>
          <a:bodyPr wrap="none" rtlCol="0" anchor="t"/>
          <a:lstStyle/>
          <a:p>
            <a:pPr algn="ctr" indent="0" marL="0">
              <a:lnSpc>
                <a:spcPts val="3281"/>
              </a:lnSpc>
              <a:buNone/>
            </a:pPr>
            <a:r>
              <a:rPr lang="en-US" sz="2624" dirty="0">
                <a:solidFill>
                  <a:srgbClr val="404155"/>
                </a:solidFill>
                <a:latin typeface="Corben" pitchFamily="34" charset="0"/>
                <a:ea typeface="Corben" pitchFamily="34" charset="-122"/>
                <a:cs typeface="Corben" pitchFamily="34" charset="-120"/>
              </a:rPr>
              <a:t>1</a:t>
            </a:r>
            <a:endParaRPr lang="en-US" sz="2624" dirty="0"/>
          </a:p>
        </p:txBody>
      </p:sp>
      <p:sp>
        <p:nvSpPr>
          <p:cNvPr id="8" name="Text 4"/>
          <p:cNvSpPr/>
          <p:nvPr/>
        </p:nvSpPr>
        <p:spPr>
          <a:xfrm>
            <a:off x="1555313" y="4149685"/>
            <a:ext cx="2743200" cy="347186"/>
          </a:xfrm>
          <a:prstGeom prst="rect">
            <a:avLst/>
          </a:prstGeom>
          <a:noFill/>
          <a:ln/>
        </p:spPr>
        <p:txBody>
          <a:bodyPr wrap="non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Sanayi Uygulamaları</a:t>
            </a:r>
            <a:endParaRPr lang="en-US" sz="2187" dirty="0"/>
          </a:p>
        </p:txBody>
      </p:sp>
      <p:sp>
        <p:nvSpPr>
          <p:cNvPr id="9" name="Text 5"/>
          <p:cNvSpPr/>
          <p:nvPr/>
        </p:nvSpPr>
        <p:spPr>
          <a:xfrm>
            <a:off x="1555313" y="4630103"/>
            <a:ext cx="3820001" cy="1421606"/>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Robot kolları, sanayi alanında malzeme taşıma, montaj ve üretim süreçlerinde yaygın olarak kullanılmaktadır.</a:t>
            </a:r>
            <a:endParaRPr lang="en-US" sz="1750" dirty="0"/>
          </a:p>
        </p:txBody>
      </p:sp>
      <p:sp>
        <p:nvSpPr>
          <p:cNvPr id="10" name="Shape 6"/>
          <p:cNvSpPr/>
          <p:nvPr/>
        </p:nvSpPr>
        <p:spPr>
          <a:xfrm>
            <a:off x="5597485" y="4073366"/>
            <a:ext cx="499943" cy="499943"/>
          </a:xfrm>
          <a:prstGeom prst="roundRect">
            <a:avLst>
              <a:gd name="adj" fmla="val 20000"/>
            </a:avLst>
          </a:prstGeom>
          <a:solidFill>
            <a:srgbClr val="D2D9F9"/>
          </a:solidFill>
          <a:ln w="13811">
            <a:solidFill>
              <a:srgbClr val="A5B3F3"/>
            </a:solidFill>
            <a:prstDash val="solid"/>
          </a:ln>
        </p:spPr>
      </p:sp>
      <p:sp>
        <p:nvSpPr>
          <p:cNvPr id="11" name="Text 7"/>
          <p:cNvSpPr/>
          <p:nvPr/>
        </p:nvSpPr>
        <p:spPr>
          <a:xfrm>
            <a:off x="5759768" y="4115038"/>
            <a:ext cx="175260" cy="416481"/>
          </a:xfrm>
          <a:prstGeom prst="rect">
            <a:avLst/>
          </a:prstGeom>
          <a:noFill/>
          <a:ln/>
        </p:spPr>
        <p:txBody>
          <a:bodyPr wrap="none" rtlCol="0" anchor="t"/>
          <a:lstStyle/>
          <a:p>
            <a:pPr algn="ctr" indent="0" marL="0">
              <a:lnSpc>
                <a:spcPts val="3281"/>
              </a:lnSpc>
              <a:buNone/>
            </a:pPr>
            <a:r>
              <a:rPr lang="en-US" sz="2624" dirty="0">
                <a:solidFill>
                  <a:srgbClr val="404155"/>
                </a:solidFill>
                <a:latin typeface="Corben" pitchFamily="34" charset="0"/>
                <a:ea typeface="Corben" pitchFamily="34" charset="-122"/>
                <a:cs typeface="Corben" pitchFamily="34" charset="-120"/>
              </a:rPr>
              <a:t>2</a:t>
            </a:r>
            <a:endParaRPr lang="en-US" sz="2624" dirty="0"/>
          </a:p>
        </p:txBody>
      </p:sp>
      <p:sp>
        <p:nvSpPr>
          <p:cNvPr id="12" name="Text 8"/>
          <p:cNvSpPr/>
          <p:nvPr/>
        </p:nvSpPr>
        <p:spPr>
          <a:xfrm>
            <a:off x="6319599" y="4149685"/>
            <a:ext cx="2415540" cy="347186"/>
          </a:xfrm>
          <a:prstGeom prst="rect">
            <a:avLst/>
          </a:prstGeom>
          <a:noFill/>
          <a:ln/>
        </p:spPr>
        <p:txBody>
          <a:bodyPr wrap="none" rtlCol="0" anchor="t"/>
          <a:lstStyle/>
          <a:p>
            <a:pPr indent="0" marL="0">
              <a:lnSpc>
                <a:spcPts val="2734"/>
              </a:lnSpc>
              <a:buNone/>
            </a:pPr>
            <a:r>
              <a:rPr lang="en-US" sz="2187" dirty="0">
                <a:solidFill>
                  <a:srgbClr val="404155"/>
                </a:solidFill>
                <a:latin typeface="Corben" pitchFamily="34" charset="0"/>
                <a:ea typeface="Corben" pitchFamily="34" charset="-122"/>
                <a:cs typeface="Corben" pitchFamily="34" charset="-120"/>
              </a:rPr>
              <a:t>Tıbbi Uygulamalar</a:t>
            </a:r>
            <a:endParaRPr lang="en-US" sz="2187" dirty="0"/>
          </a:p>
        </p:txBody>
      </p:sp>
      <p:sp>
        <p:nvSpPr>
          <p:cNvPr id="13" name="Text 9"/>
          <p:cNvSpPr/>
          <p:nvPr/>
        </p:nvSpPr>
        <p:spPr>
          <a:xfrm>
            <a:off x="6319599" y="4630103"/>
            <a:ext cx="3820001" cy="1066205"/>
          </a:xfrm>
          <a:prstGeom prst="rect">
            <a:avLst/>
          </a:prstGeom>
          <a:noFill/>
          <a:ln/>
        </p:spPr>
        <p:txBody>
          <a:bodyPr wrap="square" rtlCol="0" anchor="t"/>
          <a:lstStyle/>
          <a:p>
            <a:pPr indent="0" marL="0">
              <a:lnSpc>
                <a:spcPts val="2799"/>
              </a:lnSpc>
              <a:buNone/>
            </a:pPr>
            <a:r>
              <a:rPr lang="en-US" sz="1750" dirty="0">
                <a:solidFill>
                  <a:srgbClr val="404155"/>
                </a:solidFill>
                <a:latin typeface="Nobile" pitchFamily="34" charset="0"/>
                <a:ea typeface="Nobile" pitchFamily="34" charset="-122"/>
                <a:cs typeface="Nobile" pitchFamily="34" charset="-120"/>
              </a:rPr>
              <a:t>Robot kolları, tıp alanında cerrahi operasyonlarda ve rehabilitasyon süreçlerinde kullanılmaktadır.</a:t>
            </a:r>
            <a:endParaRPr lang="en-US" sz="1750" dirty="0"/>
          </a:p>
        </p:txBody>
      </p:sp>
      <p:pic>
        <p:nvPicPr>
          <p:cNvPr id="14"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p:cNvPr>
          <p:cNvPicPr>
            <a:picLocks noChangeAspect="1"/>
          </p:cNvPicPr>
          <p:nvPr/>
        </p:nvPicPr>
        <p:blipFill>
          <a:blip r:embed="rId2"/>
          <a:stretch>
            <a:fillRect/>
          </a:stretch>
        </p:blipFill>
        <p:spPr>
          <a:xfrm>
            <a:off x="10972800" y="0"/>
            <a:ext cx="3657600" cy="8229600"/>
          </a:xfrm>
          <a:prstGeom prst="rect">
            <a:avLst/>
          </a:prstGeom>
        </p:spPr>
      </p:pic>
      <p:sp>
        <p:nvSpPr>
          <p:cNvPr id="5" name="Text 1"/>
          <p:cNvSpPr/>
          <p:nvPr/>
        </p:nvSpPr>
        <p:spPr>
          <a:xfrm>
            <a:off x="833199" y="1476256"/>
            <a:ext cx="9306401" cy="1388745"/>
          </a:xfrm>
          <a:prstGeom prst="rect">
            <a:avLst/>
          </a:prstGeom>
          <a:noFill/>
          <a:ln/>
        </p:spPr>
        <p:txBody>
          <a:bodyPr wrap="square" rtlCol="0" anchor="t"/>
          <a:lstStyle/>
          <a:p>
            <a:pPr indent="0" marL="0">
              <a:lnSpc>
                <a:spcPts val="5468"/>
              </a:lnSpc>
              <a:buNone/>
            </a:pPr>
            <a:r>
              <a:rPr lang="en-US" sz="4374" dirty="0">
                <a:solidFill>
                  <a:srgbClr val="1B1B27"/>
                </a:solidFill>
                <a:latin typeface="Corben" pitchFamily="34" charset="0"/>
                <a:ea typeface="Corben" pitchFamily="34" charset="-122"/>
                <a:cs typeface="Corben" pitchFamily="34" charset="-120"/>
              </a:rPr>
              <a:t>Robot Kolların Gelecekteki Potansiyeli</a:t>
            </a:r>
            <a:endParaRPr lang="en-US" sz="4374" dirty="0"/>
          </a:p>
        </p:txBody>
      </p:sp>
      <p:pic>
        <p:nvPicPr>
          <p:cNvPr id="6" name="Image 2" descr="preencoded.png">    </p:cNvPr>
          <p:cNvPicPr>
            <a:picLocks noChangeAspect="1"/>
          </p:cNvPicPr>
          <p:nvPr/>
        </p:nvPicPr>
        <p:blipFill>
          <a:blip r:embed="rId3"/>
          <a:stretch>
            <a:fillRect/>
          </a:stretch>
        </p:blipFill>
        <p:spPr>
          <a:xfrm>
            <a:off x="833199" y="3198257"/>
            <a:ext cx="1110972" cy="1777484"/>
          </a:xfrm>
          <a:prstGeom prst="rect">
            <a:avLst/>
          </a:prstGeom>
        </p:spPr>
      </p:pic>
      <p:sp>
        <p:nvSpPr>
          <p:cNvPr id="7" name="Text 2"/>
          <p:cNvSpPr/>
          <p:nvPr/>
        </p:nvSpPr>
        <p:spPr>
          <a:xfrm>
            <a:off x="2277428" y="3420428"/>
            <a:ext cx="3390900" cy="347186"/>
          </a:xfrm>
          <a:prstGeom prst="rect">
            <a:avLst/>
          </a:prstGeom>
          <a:noFill/>
          <a:ln/>
        </p:spPr>
        <p:txBody>
          <a:bodyPr wrap="none" rtlCol="0" anchor="t"/>
          <a:lstStyle/>
          <a:p>
            <a:pPr algn="l" indent="0" marL="0">
              <a:lnSpc>
                <a:spcPts val="2734"/>
              </a:lnSpc>
              <a:buNone/>
            </a:pPr>
            <a:r>
              <a:rPr lang="en-US" sz="2187" dirty="0">
                <a:solidFill>
                  <a:srgbClr val="404155"/>
                </a:solidFill>
                <a:latin typeface="Corben" pitchFamily="34" charset="0"/>
                <a:ea typeface="Corben" pitchFamily="34" charset="-122"/>
                <a:cs typeface="Corben" pitchFamily="34" charset="-120"/>
              </a:rPr>
              <a:t>Yapay Zeka Entegrasyonu</a:t>
            </a:r>
            <a:endParaRPr lang="en-US" sz="2187" dirty="0"/>
          </a:p>
        </p:txBody>
      </p:sp>
      <p:sp>
        <p:nvSpPr>
          <p:cNvPr id="8" name="Text 3"/>
          <p:cNvSpPr/>
          <p:nvPr/>
        </p:nvSpPr>
        <p:spPr>
          <a:xfrm>
            <a:off x="2277428" y="3900845"/>
            <a:ext cx="7862173" cy="710803"/>
          </a:xfrm>
          <a:prstGeom prst="rect">
            <a:avLst/>
          </a:prstGeom>
          <a:noFill/>
          <a:ln/>
        </p:spPr>
        <p:txBody>
          <a:bodyPr wrap="square" rtlCol="0" anchor="t"/>
          <a:lstStyle/>
          <a:p>
            <a:pPr algn="l" indent="0" marL="0">
              <a:lnSpc>
                <a:spcPts val="2799"/>
              </a:lnSpc>
              <a:buNone/>
            </a:pPr>
            <a:r>
              <a:rPr lang="en-US" sz="1750" dirty="0">
                <a:solidFill>
                  <a:srgbClr val="404155"/>
                </a:solidFill>
                <a:latin typeface="Nobile" pitchFamily="34" charset="0"/>
                <a:ea typeface="Nobile" pitchFamily="34" charset="-122"/>
                <a:cs typeface="Nobile" pitchFamily="34" charset="-120"/>
              </a:rPr>
              <a:t>Robot kollarının yapay zeka ve makine öğrenmesi ile entegre edilerek daha karmaşık görevleri yerine getirebilmesi hedeflenmektedir.</a:t>
            </a:r>
            <a:endParaRPr lang="en-US" sz="1750" dirty="0"/>
          </a:p>
        </p:txBody>
      </p:sp>
      <p:pic>
        <p:nvPicPr>
          <p:cNvPr id="9" name="Image 3" descr="preencoded.png">    </p:cNvPr>
          <p:cNvPicPr>
            <a:picLocks noChangeAspect="1"/>
          </p:cNvPicPr>
          <p:nvPr/>
        </p:nvPicPr>
        <p:blipFill>
          <a:blip r:embed="rId4"/>
          <a:stretch>
            <a:fillRect/>
          </a:stretch>
        </p:blipFill>
        <p:spPr>
          <a:xfrm>
            <a:off x="833199" y="4975741"/>
            <a:ext cx="1110972" cy="1777484"/>
          </a:xfrm>
          <a:prstGeom prst="rect">
            <a:avLst/>
          </a:prstGeom>
        </p:spPr>
      </p:pic>
      <p:sp>
        <p:nvSpPr>
          <p:cNvPr id="10" name="Text 4"/>
          <p:cNvSpPr/>
          <p:nvPr/>
        </p:nvSpPr>
        <p:spPr>
          <a:xfrm>
            <a:off x="2277428" y="5197912"/>
            <a:ext cx="3246120" cy="347186"/>
          </a:xfrm>
          <a:prstGeom prst="rect">
            <a:avLst/>
          </a:prstGeom>
          <a:noFill/>
          <a:ln/>
        </p:spPr>
        <p:txBody>
          <a:bodyPr wrap="none" rtlCol="0" anchor="t"/>
          <a:lstStyle/>
          <a:p>
            <a:pPr algn="l" indent="0" marL="0">
              <a:lnSpc>
                <a:spcPts val="2734"/>
              </a:lnSpc>
              <a:buNone/>
            </a:pPr>
            <a:r>
              <a:rPr lang="en-US" sz="2187" dirty="0">
                <a:solidFill>
                  <a:srgbClr val="404155"/>
                </a:solidFill>
                <a:latin typeface="Corben" pitchFamily="34" charset="0"/>
                <a:ea typeface="Corben" pitchFamily="34" charset="-122"/>
                <a:cs typeface="Corben" pitchFamily="34" charset="-120"/>
              </a:rPr>
              <a:t>Geniş Uygulama Alanları</a:t>
            </a:r>
            <a:endParaRPr lang="en-US" sz="2187" dirty="0"/>
          </a:p>
        </p:txBody>
      </p:sp>
      <p:sp>
        <p:nvSpPr>
          <p:cNvPr id="11" name="Text 5"/>
          <p:cNvSpPr/>
          <p:nvPr/>
        </p:nvSpPr>
        <p:spPr>
          <a:xfrm>
            <a:off x="2277428" y="5678329"/>
            <a:ext cx="7862173" cy="710803"/>
          </a:xfrm>
          <a:prstGeom prst="rect">
            <a:avLst/>
          </a:prstGeom>
          <a:noFill/>
          <a:ln/>
        </p:spPr>
        <p:txBody>
          <a:bodyPr wrap="square" rtlCol="0" anchor="t"/>
          <a:lstStyle/>
          <a:p>
            <a:pPr algn="l" indent="0" marL="0">
              <a:lnSpc>
                <a:spcPts val="2799"/>
              </a:lnSpc>
              <a:buNone/>
            </a:pPr>
            <a:r>
              <a:rPr lang="en-US" sz="1750" dirty="0">
                <a:solidFill>
                  <a:srgbClr val="404155"/>
                </a:solidFill>
                <a:latin typeface="Nobile" pitchFamily="34" charset="0"/>
                <a:ea typeface="Nobile" pitchFamily="34" charset="-122"/>
                <a:cs typeface="Nobile" pitchFamily="34" charset="-120"/>
              </a:rPr>
              <a:t>Robot kollarının gelişimi, endüstriyel otomasyondan ev otomasyonuna kadar geniş bir uygulama yelpazesinde kullanılmasını sağlayacaktır.</a:t>
            </a:r>
            <a:endParaRPr lang="en-US" sz="1750" dirty="0"/>
          </a:p>
        </p:txBody>
      </p:sp>
      <p:pic>
        <p:nvPicPr>
          <p:cNvPr id="12" name="Image 4" descr="preencoded.png">
            <a:hlinkClick r:id="rId6" tooltip=""/>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2024-01-08T15:15:55Z</dcterms:created>
  <dcterms:modified xsi:type="dcterms:W3CDTF">2024-01-08T15:15:55Z</dcterms:modified>
</cp:coreProperties>
</file>